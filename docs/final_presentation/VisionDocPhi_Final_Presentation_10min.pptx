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100584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4000" b="1">
                <a:solidFill>
                  <a:srgbClr val="1C304A"/>
                </a:solidFill>
              </a:defRPr>
            </a:pPr>
            <a:r>
              <a:t>VisionDocPhi-3.5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13232" y="169164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2D65A4"/>
                </a:solidFill>
              </a:defRPr>
            </a:pPr>
            <a:r>
              <a:t>Adaptive OCR-Infused Prompting for Document Visual Question Answering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49808" y="2331720"/>
            <a:ext cx="9875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0">
                <a:solidFill>
                  <a:srgbClr val="1C222A"/>
                </a:solidFill>
              </a:defRPr>
            </a:pPr>
            <a:r>
              <a:t>Mokshita Kochhar | IIT Kharagpur Research Intern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49808" y="2816352"/>
            <a:ext cx="9875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0">
                <a:solidFill>
                  <a:srgbClr val="5E6975"/>
                </a:solidFill>
              </a:defRPr>
            </a:pPr>
            <a:r>
              <a:t>Model: Phi-3.5-Vision (4.2B) | Dataset: SP-DocVQA | Metric: ANLS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77240" y="3886200"/>
            <a:ext cx="10561320" cy="1051560"/>
          </a:xfrm>
          <a:prstGeom prst="roundRect">
            <a:avLst/>
          </a:prstGeom>
          <a:solidFill>
            <a:srgbClr val="F4F7FA"/>
          </a:solidFill>
          <a:ln>
            <a:solidFill>
              <a:srgbClr val="D7E0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41832" y="3995928"/>
            <a:ext cx="10232136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41965F"/>
                </a:solidFill>
              </a:defRPr>
            </a:pPr>
            <a:r>
              <a:t>Headline Result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41832" y="4325112"/>
            <a:ext cx="10232136" cy="52120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50" b="0">
                <a:solidFill>
                  <a:srgbClr val="1C222A"/>
                </a:solidFill>
              </a:defRPr>
            </a:pPr>
            <a:r>
              <a:t>Vision-only ANLS 0.506 → OCR-adaptive ANLS 0.658 (+0.152) on 200 paired samples, with no fine-tuning.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652760" y="6510528"/>
            <a:ext cx="100584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850" b="0">
                <a:solidFill>
                  <a:srgbClr val="5E6975"/>
                </a:solidFill>
              </a:defRPr>
            </a:pPr>
            <a:r>
              <a:t>1/11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28600"/>
            <a:ext cx="1120140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500" b="1">
                <a:solidFill>
                  <a:srgbClr val="1C304A"/>
                </a:solidFill>
              </a:defRPr>
            </a:pPr>
            <a:r>
              <a:t>Phi-3.5-Vision &amp; Its Limitations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30352" y="713232"/>
            <a:ext cx="109728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50">
                <a:solidFill>
                  <a:srgbClr val="5E6975"/>
                </a:solidFill>
              </a:defRPr>
            </a:pPr>
            <a:r>
              <a:t>A small VLM is practical, but dense documents stress its visual input budget.</a:t>
            </a:r>
          </a:p>
        </p:txBody>
      </p:sp>
      <p:pic>
        <p:nvPicPr>
          <p:cNvPr id="4" name="Picture 3" descr="dense_form_resolution_visua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1005840"/>
            <a:ext cx="5943600" cy="3218688"/>
          </a:xfrm>
          <a:prstGeom prst="rect">
            <a:avLst/>
          </a:prstGeom>
        </p:spPr>
      </p:pic>
      <p:sp>
        <p:nvSpPr>
          <p:cNvPr id="5" name="Rounded Rectangle 4"/>
          <p:cNvSpPr/>
          <p:nvPr/>
        </p:nvSpPr>
        <p:spPr>
          <a:xfrm>
            <a:off x="6720840" y="1051560"/>
            <a:ext cx="4800600" cy="960120"/>
          </a:xfrm>
          <a:prstGeom prst="roundRect">
            <a:avLst/>
          </a:prstGeom>
          <a:solidFill>
            <a:srgbClr val="F4F7FA"/>
          </a:solidFill>
          <a:ln>
            <a:solidFill>
              <a:srgbClr val="D7E0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885431" y="1161288"/>
            <a:ext cx="4471416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2D65A4"/>
                </a:solidFill>
              </a:defRPr>
            </a:pPr>
            <a:r>
              <a:t>What is Phi-3.5-Vision?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885431" y="1490472"/>
            <a:ext cx="4471416" cy="4297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50" b="0">
                <a:solidFill>
                  <a:srgbClr val="1C222A"/>
                </a:solidFill>
              </a:defRPr>
            </a:pPr>
            <a:r>
              <a:t>4.2B-parameter multimodal model that takes image + text and generates a short answer. It can run on a single GPU, making it attractive for low-cost, private deployment.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720840" y="2240280"/>
            <a:ext cx="4800600" cy="1143000"/>
          </a:xfrm>
          <a:prstGeom prst="roundRect">
            <a:avLst/>
          </a:prstGeom>
          <a:solidFill>
            <a:srgbClr val="F4F7FA"/>
          </a:solidFill>
          <a:ln>
            <a:solidFill>
              <a:srgbClr val="D7E0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885431" y="2350008"/>
            <a:ext cx="4471416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DD852F"/>
                </a:solidFill>
              </a:defRPr>
            </a:pPr>
            <a:r>
              <a:t>Resolution Bottleneck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885431" y="2679192"/>
            <a:ext cx="4471416" cy="6126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50" b="0">
                <a:solidFill>
                  <a:srgbClr val="1C222A"/>
                </a:solidFill>
              </a:defRPr>
            </a:pPr>
            <a:r>
              <a:t>The processor uses 336×336 HD crops. With num_crops=4, the effective processed size is roughly 4×336, often summarized as ~1334×1334 px.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812280" y="3703320"/>
            <a:ext cx="4617720" cy="1600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20">
                <a:solidFill>
                  <a:srgbClr val="1C222A"/>
                </a:solidFill>
              </a:defRPr>
            </a:pPr>
            <a:r>
              <a:t>Fine print and handwritten digits lose detail.</a:t>
            </a:r>
          </a:p>
          <a:p>
            <a:pPr>
              <a:spcAft>
                <a:spcPts val="400"/>
              </a:spcAft>
              <a:defRPr sz="1220">
                <a:solidFill>
                  <a:srgbClr val="1C222A"/>
                </a:solidFill>
              </a:defRPr>
            </a:pPr>
            <a:r>
              <a:t>Full-page attention is diluted across many visual tokens.</a:t>
            </a:r>
          </a:p>
          <a:p>
            <a:pPr>
              <a:spcAft>
                <a:spcPts val="400"/>
              </a:spcAft>
              <a:defRPr sz="1220">
                <a:solidFill>
                  <a:srgbClr val="1C222A"/>
                </a:solidFill>
              </a:defRPr>
            </a:pPr>
            <a:r>
              <a:t>The 4B model must jointly read, localize, and reason.</a:t>
            </a:r>
          </a:p>
          <a:p>
            <a:pPr>
              <a:spcAft>
                <a:spcPts val="400"/>
              </a:spcAft>
              <a:defRPr sz="1220">
                <a:solidFill>
                  <a:srgbClr val="1C222A"/>
                </a:solidFill>
              </a:defRPr>
            </a:pPr>
            <a:r>
              <a:t>It is a general VLM, not a document-layout specialist.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652760" y="6510528"/>
            <a:ext cx="100584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850" b="0">
                <a:solidFill>
                  <a:srgbClr val="5E6975"/>
                </a:solidFill>
              </a:defRPr>
            </a:pPr>
            <a:r>
              <a:t>2/11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28600"/>
            <a:ext cx="1120140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500" b="1">
                <a:solidFill>
                  <a:srgbClr val="1C304A"/>
                </a:solidFill>
              </a:defRPr>
            </a:pPr>
            <a:r>
              <a:t>The Problem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30352" y="713232"/>
            <a:ext cx="109728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50">
                <a:solidFill>
                  <a:srgbClr val="5E6975"/>
                </a:solidFill>
              </a:defRPr>
            </a:pPr>
            <a:r>
              <a:t>DocVQA requires exact answers from crowded scanned pages.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40080" y="1005840"/>
            <a:ext cx="5166360" cy="1097280"/>
          </a:xfrm>
          <a:prstGeom prst="roundRect">
            <a:avLst/>
          </a:prstGeom>
          <a:solidFill>
            <a:srgbClr val="F4F7FA"/>
          </a:solidFill>
          <a:ln>
            <a:solidFill>
              <a:srgbClr val="D7E0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04671" y="1115568"/>
            <a:ext cx="4837176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2D65A4"/>
                </a:solidFill>
              </a:defRPr>
            </a:pPr>
            <a:r>
              <a:t>Task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04671" y="1444752"/>
            <a:ext cx="4837176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50" b="0">
                <a:solidFill>
                  <a:srgbClr val="1C222A"/>
                </a:solidFill>
              </a:defRPr>
            </a:pPr>
            <a:r>
              <a:t>Document image + natural-language question → short exact answer.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217920" y="1005840"/>
            <a:ext cx="5166360" cy="1097280"/>
          </a:xfrm>
          <a:prstGeom prst="roundRect">
            <a:avLst/>
          </a:prstGeom>
          <a:solidFill>
            <a:srgbClr val="F4F7FA"/>
          </a:solidFill>
          <a:ln>
            <a:solidFill>
              <a:srgbClr val="D7E0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382512" y="1115568"/>
            <a:ext cx="4837176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DD852F"/>
                </a:solidFill>
              </a:defRPr>
            </a:pPr>
            <a:r>
              <a:t>Baseline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382512" y="1444752"/>
            <a:ext cx="4837176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50" b="0">
                <a:solidFill>
                  <a:srgbClr val="1C222A"/>
                </a:solidFill>
              </a:defRPr>
            </a:pPr>
            <a:r>
              <a:t>Image + question → Phi-3.5-Vision → answer. Mean ANLS: 0.506 on 200 SP-DocVQA samples.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85800" y="2560320"/>
            <a:ext cx="107899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 b="1">
                <a:solidFill>
                  <a:srgbClr val="1C304A"/>
                </a:solidFill>
              </a:defRPr>
            </a:pPr>
            <a:r>
              <a:t>Where the baseline fails on structured documents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22960" y="3017520"/>
            <a:ext cx="10058400" cy="2148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600">
                <a:solidFill>
                  <a:srgbClr val="1C222A"/>
                </a:solidFill>
              </a:defRPr>
            </a:pPr>
            <a:r>
              <a:t>Wrong field selected when many labels look similar.</a:t>
            </a:r>
          </a:p>
          <a:p>
            <a:pPr>
              <a:spcAft>
                <a:spcPts val="400"/>
              </a:spcAft>
              <a:defRPr sz="1600">
                <a:solidFill>
                  <a:srgbClr val="1C222A"/>
                </a:solidFill>
              </a:defRPr>
            </a:pPr>
            <a:r>
              <a:t>Fine print, table cells, and handwritten digits are misread.</a:t>
            </a:r>
          </a:p>
          <a:p>
            <a:pPr>
              <a:spcAft>
                <a:spcPts val="400"/>
              </a:spcAft>
              <a:defRPr sz="1600">
                <a:solidFill>
                  <a:srgbClr val="1C222A"/>
                </a:solidFill>
              </a:defRPr>
            </a:pPr>
            <a:r>
              <a:t>Boilerplate text is copied instead of the answer value.</a:t>
            </a:r>
          </a:p>
          <a:p>
            <a:pPr>
              <a:spcAft>
                <a:spcPts val="400"/>
              </a:spcAft>
              <a:defRPr sz="1600">
                <a:solidFill>
                  <a:srgbClr val="1C222A"/>
                </a:solidFill>
              </a:defRPr>
            </a:pPr>
            <a:r>
              <a:t>Table/list questions are especially hard: baseline ANLS is only 0.376.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22960" y="5486400"/>
            <a:ext cx="10241280" cy="731520"/>
          </a:xfrm>
          <a:prstGeom prst="roundRect">
            <a:avLst/>
          </a:prstGeom>
          <a:solidFill>
            <a:srgbClr val="F4F7FA"/>
          </a:solidFill>
          <a:ln>
            <a:solidFill>
              <a:srgbClr val="D7E0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87552" y="5596128"/>
            <a:ext cx="9912096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41965F"/>
                </a:solidFill>
              </a:defRPr>
            </a:pPr>
            <a:r>
              <a:t>Core Insight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87552" y="5925312"/>
            <a:ext cx="9912096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50" b="0">
                <a:solidFill>
                  <a:srgbClr val="1C222A"/>
                </a:solidFill>
              </a:defRPr>
            </a:pPr>
            <a:r>
              <a:t>The bottleneck is not only reading text; it is finding the right text region inside a resolution-limited VLM.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652760" y="6510528"/>
            <a:ext cx="100584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850" b="0">
                <a:solidFill>
                  <a:srgbClr val="5E6975"/>
                </a:solidFill>
              </a:defRPr>
            </a:pPr>
            <a:r>
              <a:t>3/11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28600"/>
            <a:ext cx="1120140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500" b="1">
                <a:solidFill>
                  <a:srgbClr val="1C304A"/>
                </a:solidFill>
              </a:defRPr>
            </a:pPr>
            <a:r>
              <a:t>Our Solution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30352" y="713232"/>
            <a:ext cx="109728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50">
                <a:solidFill>
                  <a:srgbClr val="5E6975"/>
                </a:solidFill>
              </a:defRPr>
            </a:pPr>
            <a:r>
              <a:t>OCR guides vision; it does not replace it.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85800" y="1005840"/>
            <a:ext cx="5349240" cy="960120"/>
          </a:xfrm>
          <a:prstGeom prst="roundRect">
            <a:avLst/>
          </a:prstGeom>
          <a:solidFill>
            <a:srgbClr val="F4F7FA"/>
          </a:solidFill>
          <a:ln>
            <a:solidFill>
              <a:srgbClr val="D7E0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50392" y="1115568"/>
            <a:ext cx="5020055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27897F"/>
                </a:solidFill>
              </a:defRPr>
            </a:pPr>
            <a:r>
              <a:t>Hypothesis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50392" y="1444752"/>
            <a:ext cx="5020055" cy="4297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50" b="0">
                <a:solidFill>
                  <a:srgbClr val="1C222A"/>
                </a:solidFill>
              </a:defRPr>
            </a:pPr>
            <a:r>
              <a:t>Targeted OCR hints can reduce field-selection errors on structured documents while preserving visual grounding.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2286000"/>
            <a:ext cx="5074920" cy="2057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420">
                <a:solidFill>
                  <a:srgbClr val="1C222A"/>
                </a:solidFill>
              </a:defRPr>
            </a:pPr>
            <a:r>
              <a:t>Always pass the document image to Phi-3.5-Vision.</a:t>
            </a:r>
          </a:p>
          <a:p>
            <a:pPr>
              <a:spcAft>
                <a:spcPts val="400"/>
              </a:spcAft>
              <a:defRPr sz="1420">
                <a:solidFill>
                  <a:srgbClr val="1C222A"/>
                </a:solidFill>
              </a:defRPr>
            </a:pPr>
            <a:r>
              <a:t>Selectively append a small OCR snippet with bounding boxes.</a:t>
            </a:r>
          </a:p>
          <a:p>
            <a:pPr>
              <a:spcAft>
                <a:spcPts val="400"/>
              </a:spcAft>
              <a:defRPr sz="1420">
                <a:solidFill>
                  <a:srgbClr val="1C222A"/>
                </a:solidFill>
              </a:defRPr>
            </a:pPr>
            <a:r>
              <a:t>Never return OCR text directly; the VLM generates the answer.</a:t>
            </a:r>
          </a:p>
          <a:p>
            <a:pPr>
              <a:spcAft>
                <a:spcPts val="400"/>
              </a:spcAft>
              <a:defRPr sz="1420">
                <a:solidFill>
                  <a:srgbClr val="1C222A"/>
                </a:solidFill>
              </a:defRPr>
            </a:pPr>
            <a:r>
              <a:t>Fallback to vision-only if OCR is weak or unavailable.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0" y="1005840"/>
            <a:ext cx="4846320" cy="1280160"/>
          </a:xfrm>
          <a:prstGeom prst="roundRect">
            <a:avLst/>
          </a:prstGeom>
          <a:solidFill>
            <a:srgbClr val="F4F7FA"/>
          </a:solidFill>
          <a:ln>
            <a:solidFill>
              <a:srgbClr val="D7E0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565392" y="1115568"/>
            <a:ext cx="4517136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DD852F"/>
                </a:solidFill>
              </a:defRPr>
            </a:pPr>
            <a:r>
              <a:t>V1 → V2 Design Shift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565392" y="1444752"/>
            <a:ext cx="4517136" cy="7498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50" b="0">
                <a:solidFill>
                  <a:srgbClr val="1C222A"/>
                </a:solidFill>
              </a:defRPr>
            </a:pPr>
            <a:r>
              <a:t>V1 always injected OCR and could hurt visual questions. V2 uses adaptive routing plus a quality gate, so OCR appears only when likely helpful.</a:t>
            </a:r>
          </a:p>
        </p:txBody>
      </p:sp>
      <p:graphicFrame>
        <p:nvGraphicFramePr>
          <p:cNvPr id="11" name="Table 10"/>
          <p:cNvGraphicFramePr>
            <a:graphicFrameLocks noGrp="1"/>
          </p:cNvGraphicFramePr>
          <p:nvPr/>
        </p:nvGraphicFramePr>
        <p:xfrm>
          <a:off x="6400800" y="2743200"/>
          <a:ext cx="4846320" cy="13258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423160"/>
                <a:gridCol w="2423160"/>
              </a:tblGrid>
              <a:tr h="265176">
                <a:tc>
                  <a:txBody>
                    <a:bodyPr/>
                    <a:lstStyle/>
                    <a:p>
                      <a:pPr algn="l">
                        <a:defRPr sz="950" b="1">
                          <a:solidFill>
                            <a:srgbClr val="FFFFFF"/>
                          </a:solidFill>
                        </a:defRPr>
                      </a:pPr>
                      <a:r>
                        <a:t>Principle</a:t>
                      </a:r>
                    </a:p>
                  </a:txBody>
                  <a:tcPr marL="36576" marR="36576" marT="27432" marB="27432">
                    <a:solidFill>
                      <a:srgbClr val="1C304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50" b="1">
                          <a:solidFill>
                            <a:srgbClr val="FFFFFF"/>
                          </a:solidFill>
                        </a:defRPr>
                      </a:pPr>
                      <a:r>
                        <a:t>Why it matters</a:t>
                      </a:r>
                    </a:p>
                  </a:txBody>
                  <a:tcPr marL="36576" marR="36576" marT="27432" marB="27432">
                    <a:solidFill>
                      <a:srgbClr val="1C304A"/>
                    </a:solidFill>
                  </a:tcPr>
                </a:tc>
              </a:tr>
              <a:tr h="265176">
                <a:tc>
                  <a:txBody>
                    <a:bodyPr/>
                    <a:lstStyle/>
                    <a:p>
                      <a:pPr algn="l">
                        <a:defRPr sz="950">
                          <a:solidFill>
                            <a:srgbClr val="1C222A"/>
                          </a:solidFill>
                        </a:defRPr>
                      </a:pPr>
                      <a:r>
                        <a:t>Selective OCR</a:t>
                      </a:r>
                    </a:p>
                  </a:txBody>
                  <a:tcPr marL="36576" marR="36576" marT="27432" marB="27432">
                    <a:solidFill>
                      <a:srgbClr val="FAFCF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50">
                          <a:solidFill>
                            <a:srgbClr val="1C222A"/>
                          </a:solidFill>
                        </a:defRPr>
                      </a:pPr>
                      <a:r>
                        <a:t>Avoids noise</a:t>
                      </a:r>
                    </a:p>
                  </a:txBody>
                  <a:tcPr marL="36576" marR="36576" marT="27432" marB="27432">
                    <a:solidFill>
                      <a:srgbClr val="FAFCFE"/>
                    </a:solidFill>
                  </a:tcPr>
                </a:tc>
              </a:tr>
              <a:tr h="265176">
                <a:tc>
                  <a:txBody>
                    <a:bodyPr/>
                    <a:lstStyle/>
                    <a:p>
                      <a:pPr algn="l">
                        <a:defRPr sz="950">
                          <a:solidFill>
                            <a:srgbClr val="1C222A"/>
                          </a:solidFill>
                        </a:defRPr>
                      </a:pPr>
                      <a:r>
                        <a:t>Safe fallback</a:t>
                      </a:r>
                    </a:p>
                  </a:txBody>
                  <a:tcPr marL="36576" marR="36576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50">
                          <a:solidFill>
                            <a:srgbClr val="1C222A"/>
                          </a:solidFill>
                        </a:defRPr>
                      </a:pPr>
                      <a:r>
                        <a:t>Protects accuracy</a:t>
                      </a:r>
                    </a:p>
                  </a:txBody>
                  <a:tcPr marL="36576" marR="36576" marT="27432" marB="27432">
                    <a:solidFill>
                      <a:srgbClr val="FFFFFF"/>
                    </a:solidFill>
                  </a:tcPr>
                </a:tc>
              </a:tr>
              <a:tr h="265176">
                <a:tc>
                  <a:txBody>
                    <a:bodyPr/>
                    <a:lstStyle/>
                    <a:p>
                      <a:pPr algn="l">
                        <a:defRPr sz="950">
                          <a:solidFill>
                            <a:srgbClr val="1C222A"/>
                          </a:solidFill>
                        </a:defRPr>
                      </a:pPr>
                      <a:r>
                        <a:t>Image primary</a:t>
                      </a:r>
                    </a:p>
                  </a:txBody>
                  <a:tcPr marL="36576" marR="36576" marT="27432" marB="27432">
                    <a:solidFill>
                      <a:srgbClr val="FAFCF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50">
                          <a:solidFill>
                            <a:srgbClr val="1C222A"/>
                          </a:solidFill>
                        </a:defRPr>
                      </a:pPr>
                      <a:r>
                        <a:t>Keeps visual grounding</a:t>
                      </a:r>
                    </a:p>
                  </a:txBody>
                  <a:tcPr marL="36576" marR="36576" marT="27432" marB="27432">
                    <a:solidFill>
                      <a:srgbClr val="FAFCFE"/>
                    </a:solidFill>
                  </a:tcPr>
                </a:tc>
              </a:tr>
              <a:tr h="265176">
                <a:tc>
                  <a:txBody>
                    <a:bodyPr/>
                    <a:lstStyle/>
                    <a:p>
                      <a:pPr algn="l">
                        <a:defRPr sz="950">
                          <a:solidFill>
                            <a:srgbClr val="1C222A"/>
                          </a:solidFill>
                        </a:defRPr>
                      </a:pPr>
                      <a:r>
                        <a:t>Bounded prompt</a:t>
                      </a:r>
                    </a:p>
                  </a:txBody>
                  <a:tcPr marL="36576" marR="36576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50">
                          <a:solidFill>
                            <a:srgbClr val="1C222A"/>
                          </a:solidFill>
                        </a:defRPr>
                      </a:pPr>
                      <a:r>
                        <a:t>Limits distraction</a:t>
                      </a:r>
                    </a:p>
                  </a:txBody>
                  <a:tcPr marL="36576" marR="36576" marT="27432" marB="27432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2" name="Rounded Rectangle 11"/>
          <p:cNvSpPr/>
          <p:nvPr/>
        </p:nvSpPr>
        <p:spPr>
          <a:xfrm>
            <a:off x="822960" y="5074920"/>
            <a:ext cx="10241280" cy="749808"/>
          </a:xfrm>
          <a:prstGeom prst="roundRect">
            <a:avLst/>
          </a:prstGeom>
          <a:solidFill>
            <a:srgbClr val="F4F7FA"/>
          </a:solidFill>
          <a:ln>
            <a:solidFill>
              <a:srgbClr val="D7E0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87552" y="5184648"/>
            <a:ext cx="9912096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41965F"/>
                </a:solidFill>
              </a:defRPr>
            </a:pPr>
            <a:r>
              <a:t>One-line Summary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87552" y="5513831"/>
            <a:ext cx="9912096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50" b="0">
                <a:solidFill>
                  <a:srgbClr val="1C222A"/>
                </a:solidFill>
              </a:defRPr>
            </a:pPr>
            <a:r>
              <a:t>Instead of scaling model size, we structure the input so a small VLM has a smaller, cleaner search space.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652760" y="6510528"/>
            <a:ext cx="100584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850" b="0">
                <a:solidFill>
                  <a:srgbClr val="5E6975"/>
                </a:solidFill>
              </a:defRPr>
            </a:pPr>
            <a:r>
              <a:t>4/11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28600"/>
            <a:ext cx="1120140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500" b="1">
                <a:solidFill>
                  <a:srgbClr val="1C304A"/>
                </a:solidFill>
              </a:defRPr>
            </a:pPr>
            <a:r>
              <a:t>Overall Architecture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30352" y="713232"/>
            <a:ext cx="109728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50">
                <a:solidFill>
                  <a:srgbClr val="5E6975"/>
                </a:solidFill>
              </a:defRPr>
            </a:pPr>
            <a:r>
              <a:t>The same VLM is used in both modes; the adaptive path may add OCR hints.</a:t>
            </a:r>
          </a:p>
        </p:txBody>
      </p:sp>
      <p:pic>
        <p:nvPicPr>
          <p:cNvPr id="4" name="Picture 3" descr="overall_architectur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5760" y="960120"/>
            <a:ext cx="6949440" cy="3913632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7543800" y="1051560"/>
            <a:ext cx="420624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20" b="0">
                <a:solidFill>
                  <a:srgbClr val="1C222A"/>
                </a:solidFill>
              </a:defRPr>
            </a:pPr>
            <a:r>
              <a:t>How to read this diagram:</a:t>
            </a:r>
            <a:br/>
            <a:br/>
            <a:r>
              <a:t>Baseline sends only image + question. V2 first asks the Router whether OCR is worth trying. If yes, Retrieval selects relevant lines, Spatial Expansion adds nearby label-values, Formatter cleans and orders them with coordinates, and the Quality Gate accepts or rejects the snippet.</a:t>
            </a:r>
            <a:br/>
            <a:br/>
            <a:r>
              <a:t>If any stage rejects, the model receives the same vision-only input as baseline. OCR is assistive context, not direct answer lookup.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94360" y="5257800"/>
            <a:ext cx="11018520" cy="658368"/>
          </a:xfrm>
          <a:prstGeom prst="roundRect">
            <a:avLst/>
          </a:prstGeom>
          <a:solidFill>
            <a:srgbClr val="F4F7FA"/>
          </a:solidFill>
          <a:ln>
            <a:solidFill>
              <a:srgbClr val="D7E0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58952" y="5367528"/>
            <a:ext cx="10689336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5E6975"/>
                </a:solidFill>
              </a:defRPr>
            </a:pPr>
            <a:r>
              <a:t>Data Flow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58952" y="5696712"/>
            <a:ext cx="10689336" cy="1280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50" b="0">
                <a:solidFill>
                  <a:srgbClr val="1C222A"/>
                </a:solidFill>
              </a:defRPr>
            </a:pPr>
            <a:r>
              <a:t>OCR source: Azure Computer Vision line-level text + bounding boxes | Orchestration: src/agents/pipeline.py | Inference: src/models/inference.py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652760" y="6510528"/>
            <a:ext cx="100584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850" b="0">
                <a:solidFill>
                  <a:srgbClr val="5E6975"/>
                </a:solidFill>
              </a:defRPr>
            </a:pPr>
            <a:r>
              <a:t>5/11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28600"/>
            <a:ext cx="1120140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500" b="1">
                <a:solidFill>
                  <a:srgbClr val="1C304A"/>
                </a:solidFill>
              </a:defRPr>
            </a:pPr>
            <a:r>
              <a:t>The Adaptive Pipeline: 5 Stages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30352" y="713232"/>
            <a:ext cx="109728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50">
                <a:solidFill>
                  <a:srgbClr val="5E6975"/>
                </a:solidFill>
              </a:defRPr>
            </a:pPr>
            <a:r>
              <a:t>Every failure condition routes back to vision-only input.</a:t>
            </a:r>
          </a:p>
        </p:txBody>
      </p:sp>
      <p:pic>
        <p:nvPicPr>
          <p:cNvPr id="4" name="Picture 3" descr="adaptive_pipelin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914400"/>
            <a:ext cx="6629400" cy="2560320"/>
          </a:xfrm>
          <a:prstGeom prst="rect">
            <a:avLst/>
          </a:prstGeom>
        </p:spPr>
      </p:pic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7269480" y="960120"/>
          <a:ext cx="4434840" cy="29260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234440"/>
                <a:gridCol w="2194560"/>
                <a:gridCol w="1005840"/>
              </a:tblGrid>
              <a:tr h="487680">
                <a:tc>
                  <a:txBody>
                    <a:bodyPr/>
                    <a:lstStyle/>
                    <a:p>
                      <a:pPr algn="l">
                        <a:defRPr sz="790" b="1">
                          <a:solidFill>
                            <a:srgbClr val="FFFFFF"/>
                          </a:solidFill>
                        </a:defRPr>
                      </a:pPr>
                      <a:r>
                        <a:t>Stage</a:t>
                      </a:r>
                    </a:p>
                  </a:txBody>
                  <a:tcPr marL="36576" marR="36576" marT="27432" marB="27432">
                    <a:solidFill>
                      <a:srgbClr val="1C304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90" b="1">
                          <a:solidFill>
                            <a:srgbClr val="FFFFFF"/>
                          </a:solidFill>
                        </a:defRPr>
                      </a:pPr>
                      <a:r>
                        <a:t>What it does</a:t>
                      </a:r>
                    </a:p>
                  </a:txBody>
                  <a:tcPr marL="36576" marR="36576" marT="27432" marB="27432">
                    <a:solidFill>
                      <a:srgbClr val="1C304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90" b="1">
                          <a:solidFill>
                            <a:srgbClr val="FFFFFF"/>
                          </a:solidFill>
                        </a:defRPr>
                      </a:pPr>
                      <a:r>
                        <a:t>Fallback trigger</a:t>
                      </a:r>
                    </a:p>
                  </a:txBody>
                  <a:tcPr marL="36576" marR="36576" marT="27432" marB="27432">
                    <a:solidFill>
                      <a:srgbClr val="1C304A"/>
                    </a:solidFill>
                  </a:tcPr>
                </a:tc>
              </a:tr>
              <a:tr h="487680">
                <a:tc>
                  <a:txBody>
                    <a:bodyPr/>
                    <a:lstStyle/>
                    <a:p>
                      <a:pPr algn="l">
                        <a:defRPr sz="790">
                          <a:solidFill>
                            <a:srgbClr val="1C222A"/>
                          </a:solidFill>
                        </a:defRPr>
                      </a:pPr>
                      <a:r>
                        <a:t>Router</a:t>
                      </a:r>
                    </a:p>
                  </a:txBody>
                  <a:tcPr marL="36576" marR="36576" marT="27432" marB="27432">
                    <a:solidFill>
                      <a:srgbClr val="FAFCF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90">
                          <a:solidFill>
                            <a:srgbClr val="1C222A"/>
                          </a:solidFill>
                        </a:defRPr>
                      </a:pPr>
                      <a:r>
                        <a:t>OCR path vs vision-only</a:t>
                      </a:r>
                    </a:p>
                  </a:txBody>
                  <a:tcPr marL="36576" marR="36576" marT="27432" marB="27432">
                    <a:solidFill>
                      <a:srgbClr val="FAFCF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90">
                          <a:solidFill>
                            <a:srgbClr val="1C222A"/>
                          </a:solidFill>
                        </a:defRPr>
                      </a:pPr>
                      <a:r>
                        <a:t>No OCR file</a:t>
                      </a:r>
                    </a:p>
                  </a:txBody>
                  <a:tcPr marL="36576" marR="36576" marT="27432" marB="27432">
                    <a:solidFill>
                      <a:srgbClr val="FAFCFE"/>
                    </a:solidFill>
                  </a:tcPr>
                </a:tc>
              </a:tr>
              <a:tr h="487680">
                <a:tc>
                  <a:txBody>
                    <a:bodyPr/>
                    <a:lstStyle/>
                    <a:p>
                      <a:pPr algn="l">
                        <a:defRPr sz="790">
                          <a:solidFill>
                            <a:srgbClr val="1C222A"/>
                          </a:solidFill>
                        </a:defRPr>
                      </a:pPr>
                      <a:r>
                        <a:t>Hybrid Retrieval</a:t>
                      </a:r>
                    </a:p>
                  </a:txBody>
                  <a:tcPr marL="36576" marR="36576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90">
                          <a:solidFill>
                            <a:srgbClr val="1C222A"/>
                          </a:solidFill>
                        </a:defRPr>
                      </a:pPr>
                      <a:r>
                        <a:t>70% semantic + 30% keyword scoring</a:t>
                      </a:r>
                    </a:p>
                  </a:txBody>
                  <a:tcPr marL="36576" marR="36576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90">
                          <a:solidFill>
                            <a:srgbClr val="1C222A"/>
                          </a:solidFill>
                        </a:defRPr>
                      </a:pPr>
                      <a:r>
                        <a:t>No line ≥ 0.20</a:t>
                      </a:r>
                    </a:p>
                  </a:txBody>
                  <a:tcPr marL="36576" marR="36576" marT="27432" marB="27432">
                    <a:solidFill>
                      <a:srgbClr val="FFFFFF"/>
                    </a:solidFill>
                  </a:tcPr>
                </a:tc>
              </a:tr>
              <a:tr h="487680">
                <a:tc>
                  <a:txBody>
                    <a:bodyPr/>
                    <a:lstStyle/>
                    <a:p>
                      <a:pPr algn="l">
                        <a:defRPr sz="790">
                          <a:solidFill>
                            <a:srgbClr val="1C222A"/>
                          </a:solidFill>
                        </a:defRPr>
                      </a:pPr>
                      <a:r>
                        <a:t>Spatial Expansion</a:t>
                      </a:r>
                    </a:p>
                  </a:txBody>
                  <a:tcPr marL="36576" marR="36576" marT="27432" marB="27432">
                    <a:solidFill>
                      <a:srgbClr val="FAFCF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90">
                          <a:solidFill>
                            <a:srgbClr val="1C222A"/>
                          </a:solidFill>
                        </a:defRPr>
                      </a:pPr>
                      <a:r>
                        <a:t>Adds value lines below/right of labels</a:t>
                      </a:r>
                    </a:p>
                  </a:txBody>
                  <a:tcPr marL="36576" marR="36576" marT="27432" marB="27432">
                    <a:solidFill>
                      <a:srgbClr val="FAFCF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90">
                          <a:solidFill>
                            <a:srgbClr val="1C222A"/>
                          </a:solidFill>
                        </a:defRPr>
                      </a:pPr>
                      <a:r>
                        <a:t>Anchors kept</a:t>
                      </a:r>
                    </a:p>
                  </a:txBody>
                  <a:tcPr marL="36576" marR="36576" marT="27432" marB="27432">
                    <a:solidFill>
                      <a:srgbClr val="FAFCFE"/>
                    </a:solidFill>
                  </a:tcPr>
                </a:tc>
              </a:tr>
              <a:tr h="487680">
                <a:tc>
                  <a:txBody>
                    <a:bodyPr/>
                    <a:lstStyle/>
                    <a:p>
                      <a:pPr algn="l">
                        <a:defRPr sz="790">
                          <a:solidFill>
                            <a:srgbClr val="1C222A"/>
                          </a:solidFill>
                        </a:defRPr>
                      </a:pPr>
                      <a:r>
                        <a:t>Formatter</a:t>
                      </a:r>
                    </a:p>
                  </a:txBody>
                  <a:tcPr marL="36576" marR="36576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90">
                          <a:solidFill>
                            <a:srgbClr val="1C222A"/>
                          </a:solidFill>
                        </a:defRPr>
                      </a:pPr>
                      <a:r>
                        <a:t>Drops boilerplate and adds coordinates</a:t>
                      </a:r>
                    </a:p>
                  </a:txBody>
                  <a:tcPr marL="36576" marR="36576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90">
                          <a:solidFill>
                            <a:srgbClr val="1C222A"/>
                          </a:solidFill>
                        </a:defRPr>
                      </a:pPr>
                      <a:r>
                        <a:t>All lines removed</a:t>
                      </a:r>
                    </a:p>
                  </a:txBody>
                  <a:tcPr marL="36576" marR="36576" marT="27432" marB="27432">
                    <a:solidFill>
                      <a:srgbClr val="FFFFFF"/>
                    </a:solidFill>
                  </a:tcPr>
                </a:tc>
              </a:tr>
              <a:tr h="487680">
                <a:tc>
                  <a:txBody>
                    <a:bodyPr/>
                    <a:lstStyle/>
                    <a:p>
                      <a:pPr algn="l">
                        <a:defRPr sz="790">
                          <a:solidFill>
                            <a:srgbClr val="1C222A"/>
                          </a:solidFill>
                        </a:defRPr>
                      </a:pPr>
                      <a:r>
                        <a:t>Quality Gate</a:t>
                      </a:r>
                    </a:p>
                  </a:txBody>
                  <a:tcPr marL="36576" marR="36576" marT="27432" marB="27432">
                    <a:solidFill>
                      <a:srgbClr val="FAFCF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90">
                          <a:solidFill>
                            <a:srgbClr val="1C222A"/>
                          </a:solidFill>
                        </a:defRPr>
                      </a:pPr>
                      <a:r>
                        <a:t>Confidence ≥ 0.45 plus info gain</a:t>
                      </a:r>
                    </a:p>
                  </a:txBody>
                  <a:tcPr marL="36576" marR="36576" marT="27432" marB="27432">
                    <a:solidFill>
                      <a:srgbClr val="FAFCF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90">
                          <a:solidFill>
                            <a:srgbClr val="1C222A"/>
                          </a:solidFill>
                        </a:defRPr>
                      </a:pPr>
                      <a:r>
                        <a:t>Reject weak snippet</a:t>
                      </a:r>
                    </a:p>
                  </a:txBody>
                  <a:tcPr marL="36576" marR="36576" marT="27432" marB="27432">
                    <a:solidFill>
                      <a:srgbClr val="FAFCFE"/>
                    </a:solidFill>
                  </a:tcPr>
                </a:tc>
              </a:tr>
            </a:tbl>
          </a:graphicData>
        </a:graphic>
      </p:graphicFrame>
      <p:sp>
        <p:nvSpPr>
          <p:cNvPr id="6" name="Rounded Rectangle 5"/>
          <p:cNvSpPr/>
          <p:nvPr/>
        </p:nvSpPr>
        <p:spPr>
          <a:xfrm>
            <a:off x="685800" y="4480560"/>
            <a:ext cx="5303520" cy="914400"/>
          </a:xfrm>
          <a:prstGeom prst="roundRect">
            <a:avLst/>
          </a:prstGeom>
          <a:solidFill>
            <a:srgbClr val="F4F7FA"/>
          </a:solidFill>
          <a:ln>
            <a:solidFill>
              <a:srgbClr val="D7E0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50392" y="4590288"/>
            <a:ext cx="4974336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2D65A4"/>
                </a:solidFill>
              </a:defRPr>
            </a:pPr>
            <a:r>
              <a:t>Routing Stats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50392" y="4919472"/>
            <a:ext cx="4974336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50" b="0">
                <a:solidFill>
                  <a:srgbClr val="1C222A"/>
                </a:solidFill>
              </a:defRPr>
            </a:pPr>
            <a:r>
              <a:t>96 vision-only at router | 84 received OCR hints | 20 fell back after retrieval or gate.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63640" y="4480560"/>
            <a:ext cx="5303520" cy="914400"/>
          </a:xfrm>
          <a:prstGeom prst="roundRect">
            <a:avLst/>
          </a:prstGeom>
          <a:solidFill>
            <a:srgbClr val="F4F7FA"/>
          </a:solidFill>
          <a:ln>
            <a:solidFill>
              <a:srgbClr val="D7E0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28231" y="4590288"/>
            <a:ext cx="4974336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41965F"/>
                </a:solidFill>
              </a:defRPr>
            </a:pPr>
            <a:r>
              <a:t>Why fallback matters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28231" y="4919472"/>
            <a:ext cx="4974336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50" b="0">
                <a:solidFill>
                  <a:srgbClr val="1C222A"/>
                </a:solidFill>
              </a:defRPr>
            </a:pPr>
            <a:r>
              <a:t>Adaptive wins 46 samples while baseline wins 6 because the pipeline rarely forces weak OCR into the prompt.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652760" y="6510528"/>
            <a:ext cx="100584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850" b="0">
                <a:solidFill>
                  <a:srgbClr val="5E6975"/>
                </a:solidFill>
              </a:defRPr>
            </a:pPr>
            <a:r>
              <a:t>6/11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28600"/>
            <a:ext cx="1120140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500" b="1">
                <a:solidFill>
                  <a:srgbClr val="1C304A"/>
                </a:solidFill>
              </a:defRPr>
            </a:pPr>
            <a:r>
              <a:t>Router Architecture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30352" y="713232"/>
            <a:ext cx="109728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50">
                <a:solidFill>
                  <a:srgbClr val="5E6975"/>
                </a:solidFill>
              </a:defRPr>
            </a:pPr>
            <a:r>
              <a:t>Three runtime signals decide OCR-assisted vs vision-only.</a:t>
            </a:r>
          </a:p>
        </p:txBody>
      </p:sp>
      <p:pic>
        <p:nvPicPr>
          <p:cNvPr id="4" name="Picture 3" descr="router_architectur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5760" y="914400"/>
            <a:ext cx="5897880" cy="3639312"/>
          </a:xfrm>
          <a:prstGeom prst="rect">
            <a:avLst/>
          </a:prstGeom>
        </p:spPr>
      </p:pic>
      <p:sp>
        <p:nvSpPr>
          <p:cNvPr id="5" name="Rounded Rectangle 4"/>
          <p:cNvSpPr/>
          <p:nvPr/>
        </p:nvSpPr>
        <p:spPr>
          <a:xfrm>
            <a:off x="6537960" y="960120"/>
            <a:ext cx="4754880" cy="1005840"/>
          </a:xfrm>
          <a:prstGeom prst="roundRect">
            <a:avLst/>
          </a:prstGeom>
          <a:solidFill>
            <a:srgbClr val="F4F7FA"/>
          </a:solidFill>
          <a:ln>
            <a:solidFill>
              <a:srgbClr val="D7E0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702552" y="1069848"/>
            <a:ext cx="4425696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27897F"/>
                </a:solidFill>
              </a:defRPr>
            </a:pPr>
            <a:r>
              <a:t>Runtime Signals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702552" y="1399032"/>
            <a:ext cx="4425696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50" b="0">
                <a:solidFill>
                  <a:srgbClr val="1C222A"/>
                </a:solidFill>
              </a:defRPr>
            </a:pPr>
            <a:r>
              <a:t>Question type metadata, layout keywords, and pixel-level image density (Canny edges + contrast).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675120" y="2240280"/>
            <a:ext cx="4480560" cy="960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180">
                <a:solidFill>
                  <a:srgbClr val="1C222A"/>
                </a:solidFill>
              </a:defRPr>
            </a:pPr>
            <a:r>
              <a:t>Edge density &gt; 18% → OCR path.</a:t>
            </a:r>
          </a:p>
          <a:p>
            <a:pPr>
              <a:spcAft>
                <a:spcPts val="400"/>
              </a:spcAft>
              <a:defRPr sz="1180">
                <a:solidFill>
                  <a:srgbClr val="1C222A"/>
                </a:solidFill>
              </a:defRPr>
            </a:pPr>
            <a:r>
              <a:t>Edges &gt; 12% and low contrast → OCR path.</a:t>
            </a:r>
          </a:p>
          <a:p>
            <a:pPr>
              <a:spcAft>
                <a:spcPts val="400"/>
              </a:spcAft>
              <a:defRPr sz="1180">
                <a:solidFill>
                  <a:srgbClr val="1C222A"/>
                </a:solidFill>
              </a:defRPr>
            </a:pPr>
            <a:r>
              <a:t>Low contrast and edges &gt; 8% → OCR path.</a:t>
            </a:r>
          </a:p>
        </p:txBody>
      </p:sp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6492240" y="3547872"/>
          <a:ext cx="4297680" cy="1828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468880"/>
                <a:gridCol w="731520"/>
                <a:gridCol w="1097280"/>
              </a:tblGrid>
              <a:tr h="304800">
                <a:tc>
                  <a:txBody>
                    <a:bodyPr/>
                    <a:lstStyle/>
                    <a:p>
                      <a:pPr algn="l">
                        <a:defRPr sz="850" b="1">
                          <a:solidFill>
                            <a:srgbClr val="FFFFFF"/>
                          </a:solidFill>
                        </a:defRPr>
                      </a:pPr>
                      <a:r>
                        <a:t>Outcome</a:t>
                      </a:r>
                    </a:p>
                  </a:txBody>
                  <a:tcPr marL="36576" marR="36576" marT="27432" marB="27432">
                    <a:solidFill>
                      <a:srgbClr val="1C304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 b="1">
                          <a:solidFill>
                            <a:srgbClr val="FFFFFF"/>
                          </a:solidFill>
                        </a:defRPr>
                      </a:pPr>
                      <a:r>
                        <a:t>Count</a:t>
                      </a:r>
                    </a:p>
                  </a:txBody>
                  <a:tcPr marL="36576" marR="36576" marT="27432" marB="27432">
                    <a:solidFill>
                      <a:srgbClr val="1C304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 b="1">
                          <a:solidFill>
                            <a:srgbClr val="FFFFFF"/>
                          </a:solidFill>
                        </a:defRPr>
                      </a:pPr>
                      <a:r>
                        <a:t>Mean ANLS</a:t>
                      </a:r>
                    </a:p>
                  </a:txBody>
                  <a:tcPr marL="36576" marR="36576" marT="27432" marB="27432">
                    <a:solidFill>
                      <a:srgbClr val="1C304A"/>
                    </a:solidFill>
                  </a:tcPr>
                </a:tc>
              </a:tr>
              <a:tr h="304800">
                <a:tc>
                  <a:txBody>
                    <a:bodyPr/>
                    <a:lstStyle/>
                    <a:p>
                      <a:pPr algn="l">
                        <a:defRPr sz="850">
                          <a:solidFill>
                            <a:srgbClr val="1C222A"/>
                          </a:solidFill>
                        </a:defRPr>
                      </a:pPr>
                      <a:r>
                        <a:t>Question type/keyword</a:t>
                      </a:r>
                    </a:p>
                  </a:txBody>
                  <a:tcPr marL="36576" marR="36576" marT="27432" marB="27432">
                    <a:solidFill>
                      <a:srgbClr val="FAFCF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>
                          <a:solidFill>
                            <a:srgbClr val="1C222A"/>
                          </a:solidFill>
                        </a:defRPr>
                      </a:pPr>
                      <a:r>
                        <a:t>84</a:t>
                      </a:r>
                    </a:p>
                  </a:txBody>
                  <a:tcPr marL="36576" marR="36576" marT="27432" marB="27432">
                    <a:solidFill>
                      <a:srgbClr val="FAFCF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>
                          <a:solidFill>
                            <a:srgbClr val="1C222A"/>
                          </a:solidFill>
                        </a:defRPr>
                      </a:pPr>
                      <a:r>
                        <a:t>0.756</a:t>
                      </a:r>
                    </a:p>
                  </a:txBody>
                  <a:tcPr marL="36576" marR="36576" marT="27432" marB="27432">
                    <a:solidFill>
                      <a:srgbClr val="FAFCFE"/>
                    </a:solidFill>
                  </a:tcPr>
                </a:tc>
              </a:tr>
              <a:tr h="304800">
                <a:tc>
                  <a:txBody>
                    <a:bodyPr/>
                    <a:lstStyle/>
                    <a:p>
                      <a:pPr algn="l">
                        <a:defRPr sz="850">
                          <a:solidFill>
                            <a:srgbClr val="1C222A"/>
                          </a:solidFill>
                        </a:defRPr>
                      </a:pPr>
                      <a:r>
                        <a:t>Visual low density</a:t>
                      </a:r>
                    </a:p>
                  </a:txBody>
                  <a:tcPr marL="36576" marR="36576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>
                          <a:solidFill>
                            <a:srgbClr val="1C222A"/>
                          </a:solidFill>
                        </a:defRPr>
                      </a:pPr>
                      <a:r>
                        <a:t>96</a:t>
                      </a:r>
                    </a:p>
                  </a:txBody>
                  <a:tcPr marL="36576" marR="36576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>
                          <a:solidFill>
                            <a:srgbClr val="1C222A"/>
                          </a:solidFill>
                        </a:defRPr>
                      </a:pPr>
                      <a:r>
                        <a:t>0.568</a:t>
                      </a:r>
                    </a:p>
                  </a:txBody>
                  <a:tcPr marL="36576" marR="36576" marT="27432" marB="27432">
                    <a:solidFill>
                      <a:srgbClr val="FFFFFF"/>
                    </a:solidFill>
                  </a:tcPr>
                </a:tc>
              </a:tr>
              <a:tr h="304800">
                <a:tc>
                  <a:txBody>
                    <a:bodyPr/>
                    <a:lstStyle/>
                    <a:p>
                      <a:pPr algn="l">
                        <a:defRPr sz="850">
                          <a:solidFill>
                            <a:srgbClr val="1C222A"/>
                          </a:solidFill>
                        </a:defRPr>
                      </a:pPr>
                      <a:r>
                        <a:t>Gate rejected</a:t>
                      </a:r>
                    </a:p>
                  </a:txBody>
                  <a:tcPr marL="36576" marR="36576" marT="27432" marB="27432">
                    <a:solidFill>
                      <a:srgbClr val="FAFCF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>
                          <a:solidFill>
                            <a:srgbClr val="1C222A"/>
                          </a:solidFill>
                        </a:defRPr>
                      </a:pPr>
                      <a:r>
                        <a:t>11</a:t>
                      </a:r>
                    </a:p>
                  </a:txBody>
                  <a:tcPr marL="36576" marR="36576" marT="27432" marB="27432">
                    <a:solidFill>
                      <a:srgbClr val="FAFCF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>
                          <a:solidFill>
                            <a:srgbClr val="1C222A"/>
                          </a:solidFill>
                        </a:defRPr>
                      </a:pPr>
                      <a:r>
                        <a:t>0.701</a:t>
                      </a:r>
                    </a:p>
                  </a:txBody>
                  <a:tcPr marL="36576" marR="36576" marT="27432" marB="27432">
                    <a:solidFill>
                      <a:srgbClr val="FAFCFE"/>
                    </a:solidFill>
                  </a:tcPr>
                </a:tc>
              </a:tr>
              <a:tr h="304800">
                <a:tc>
                  <a:txBody>
                    <a:bodyPr/>
                    <a:lstStyle/>
                    <a:p>
                      <a:pPr algn="l">
                        <a:defRPr sz="850">
                          <a:solidFill>
                            <a:srgbClr val="1C222A"/>
                          </a:solidFill>
                        </a:defRPr>
                      </a:pPr>
                      <a:r>
                        <a:t>No lines matched</a:t>
                      </a:r>
                    </a:p>
                  </a:txBody>
                  <a:tcPr marL="36576" marR="36576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>
                          <a:solidFill>
                            <a:srgbClr val="1C222A"/>
                          </a:solidFill>
                        </a:defRPr>
                      </a:pPr>
                      <a:r>
                        <a:t>6</a:t>
                      </a:r>
                    </a:p>
                  </a:txBody>
                  <a:tcPr marL="36576" marR="36576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>
                          <a:solidFill>
                            <a:srgbClr val="1C222A"/>
                          </a:solidFill>
                        </a:defRPr>
                      </a:pPr>
                      <a:r>
                        <a:t>0.647</a:t>
                      </a:r>
                    </a:p>
                  </a:txBody>
                  <a:tcPr marL="36576" marR="36576" marT="27432" marB="27432">
                    <a:solidFill>
                      <a:srgbClr val="FFFFFF"/>
                    </a:solidFill>
                  </a:tcPr>
                </a:tc>
              </a:tr>
              <a:tr h="304800">
                <a:tc>
                  <a:txBody>
                    <a:bodyPr/>
                    <a:lstStyle/>
                    <a:p>
                      <a:pPr algn="l">
                        <a:defRPr sz="850">
                          <a:solidFill>
                            <a:srgbClr val="1C222A"/>
                          </a:solidFill>
                        </a:defRPr>
                      </a:pPr>
                      <a:r>
                        <a:t>Image density fallback</a:t>
                      </a:r>
                    </a:p>
                  </a:txBody>
                  <a:tcPr marL="36576" marR="36576" marT="27432" marB="27432">
                    <a:solidFill>
                      <a:srgbClr val="FAFCF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>
                          <a:solidFill>
                            <a:srgbClr val="1C222A"/>
                          </a:solidFill>
                        </a:defRPr>
                      </a:pPr>
                      <a:r>
                        <a:t>3</a:t>
                      </a:r>
                    </a:p>
                  </a:txBody>
                  <a:tcPr marL="36576" marR="36576" marT="27432" marB="27432">
                    <a:solidFill>
                      <a:srgbClr val="FAFCF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>
                          <a:solidFill>
                            <a:srgbClr val="1C222A"/>
                          </a:solidFill>
                        </a:defRPr>
                      </a:pPr>
                      <a:r>
                        <a:t>0.667</a:t>
                      </a:r>
                    </a:p>
                  </a:txBody>
                  <a:tcPr marL="36576" marR="36576" marT="27432" marB="27432">
                    <a:solidFill>
                      <a:srgbClr val="FAFCFE"/>
                    </a:solidFill>
                  </a:tcPr>
                </a:tc>
              </a:tr>
            </a:tbl>
          </a:graphicData>
        </a:graphic>
      </p:graphicFrame>
      <p:sp>
        <p:nvSpPr>
          <p:cNvPr id="10" name="Rounded Rectangle 9"/>
          <p:cNvSpPr/>
          <p:nvPr/>
        </p:nvSpPr>
        <p:spPr>
          <a:xfrm>
            <a:off x="594360" y="5650992"/>
            <a:ext cx="10972800" cy="566928"/>
          </a:xfrm>
          <a:prstGeom prst="roundRect">
            <a:avLst/>
          </a:prstGeom>
          <a:solidFill>
            <a:srgbClr val="F4F7FA"/>
          </a:solidFill>
          <a:ln>
            <a:solidFill>
              <a:srgbClr val="D7E0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58952" y="5760720"/>
            <a:ext cx="10643616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DD852F"/>
                </a:solidFill>
              </a:defRPr>
            </a:pPr>
            <a:r>
              <a:t>Important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58952" y="6089904"/>
            <a:ext cx="10643616" cy="365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50" b="0">
                <a:solidFill>
                  <a:srgbClr val="1C222A"/>
                </a:solidFill>
              </a:defRPr>
            </a:pPr>
            <a:r>
              <a:t>Evaluation labels like layout-heavy vs visual-heavy are for analysis. The Router uses runtime evidence, not those cohort labels.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652760" y="6510528"/>
            <a:ext cx="100584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850" b="0">
                <a:solidFill>
                  <a:srgbClr val="5E6975"/>
                </a:solidFill>
              </a:defRPr>
            </a:pPr>
            <a:r>
              <a:t>7/11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28600"/>
            <a:ext cx="1120140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500" b="1">
                <a:solidFill>
                  <a:srgbClr val="1C304A"/>
                </a:solidFill>
              </a:defRPr>
            </a:pPr>
            <a:r>
              <a:t>Evaluation Setup &amp; ANLS Metric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30352" y="713232"/>
            <a:ext cx="109728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50">
                <a:solidFill>
                  <a:srgbClr val="5E6975"/>
                </a:solidFill>
              </a:defRPr>
            </a:pPr>
            <a:r>
              <a:t>A paired comparison on the same 200 questions.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685800" y="960120"/>
          <a:ext cx="4754880" cy="10058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37360"/>
                <a:gridCol w="3017520"/>
              </a:tblGrid>
              <a:tr h="335280">
                <a:tc>
                  <a:txBody>
                    <a:bodyPr/>
                    <a:lstStyle/>
                    <a:p>
                      <a:pPr algn="l">
                        <a:defRPr sz="950" b="1">
                          <a:solidFill>
                            <a:srgbClr val="FFFFFF"/>
                          </a:solidFill>
                        </a:defRPr>
                      </a:pPr>
                      <a:r>
                        <a:t>Mode</a:t>
                      </a:r>
                    </a:p>
                  </a:txBody>
                  <a:tcPr marL="36576" marR="36576" marT="27432" marB="27432">
                    <a:solidFill>
                      <a:srgbClr val="1C304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50" b="1">
                          <a:solidFill>
                            <a:srgbClr val="FFFFFF"/>
                          </a:solidFill>
                        </a:defRPr>
                      </a:pPr>
                      <a:r>
                        <a:t>Input to Phi-3.5-Vision</a:t>
                      </a:r>
                    </a:p>
                  </a:txBody>
                  <a:tcPr marL="36576" marR="36576" marT="27432" marB="27432">
                    <a:solidFill>
                      <a:srgbClr val="1C304A"/>
                    </a:solidFill>
                  </a:tcPr>
                </a:tc>
              </a:tr>
              <a:tr h="335280">
                <a:tc>
                  <a:txBody>
                    <a:bodyPr/>
                    <a:lstStyle/>
                    <a:p>
                      <a:pPr algn="l">
                        <a:defRPr sz="950">
                          <a:solidFill>
                            <a:srgbClr val="1C222A"/>
                          </a:solidFill>
                        </a:defRPr>
                      </a:pPr>
                      <a:r>
                        <a:t>Vision-only baseline</a:t>
                      </a:r>
                    </a:p>
                  </a:txBody>
                  <a:tcPr marL="36576" marR="36576" marT="27432" marB="27432">
                    <a:solidFill>
                      <a:srgbClr val="FAFCF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50">
                          <a:solidFill>
                            <a:srgbClr val="1C222A"/>
                          </a:solidFill>
                        </a:defRPr>
                      </a:pPr>
                      <a:r>
                        <a:t>Image + question only</a:t>
                      </a:r>
                    </a:p>
                  </a:txBody>
                  <a:tcPr marL="36576" marR="36576" marT="27432" marB="27432">
                    <a:solidFill>
                      <a:srgbClr val="FAFCFE"/>
                    </a:solidFill>
                  </a:tcPr>
                </a:tc>
              </a:tr>
              <a:tr h="335280">
                <a:tc>
                  <a:txBody>
                    <a:bodyPr/>
                    <a:lstStyle/>
                    <a:p>
                      <a:pPr algn="l">
                        <a:defRPr sz="950">
                          <a:solidFill>
                            <a:srgbClr val="1C222A"/>
                          </a:solidFill>
                        </a:defRPr>
                      </a:pPr>
                      <a:r>
                        <a:t>OCR-adaptive V2</a:t>
                      </a:r>
                    </a:p>
                  </a:txBody>
                  <a:tcPr marL="36576" marR="36576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50">
                          <a:solidFill>
                            <a:srgbClr val="1C222A"/>
                          </a:solidFill>
                        </a:defRPr>
                      </a:pPr>
                      <a:r>
                        <a:t>Image + question + optional OCR snippet</a:t>
                      </a:r>
                    </a:p>
                  </a:txBody>
                  <a:tcPr marL="36576" marR="36576" marT="27432" marB="27432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777240" y="2377440"/>
            <a:ext cx="4572000" cy="1143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20">
                <a:solidFill>
                  <a:srgbClr val="1C222A"/>
                </a:solidFill>
              </a:defRPr>
            </a:pPr>
            <a:r>
              <a:t>200 stratified samples, seed 42.</a:t>
            </a:r>
          </a:p>
          <a:p>
            <a:pPr>
              <a:spcAft>
                <a:spcPts val="400"/>
              </a:spcAft>
              <a:defRPr sz="1220">
                <a:solidFill>
                  <a:srgbClr val="1C222A"/>
                </a:solidFill>
              </a:defRPr>
            </a:pPr>
            <a:r>
              <a:t>100 layout-heavy + 100 visual-heavy.</a:t>
            </a:r>
          </a:p>
          <a:p>
            <a:pPr>
              <a:spcAft>
                <a:spcPts val="400"/>
              </a:spcAft>
              <a:defRPr sz="1220">
                <a:solidFill>
                  <a:srgbClr val="1C222A"/>
                </a:solidFill>
              </a:defRPr>
            </a:pPr>
            <a:r>
              <a:t>Same model, greedy decoding, max 20 tokens.</a:t>
            </a:r>
          </a:p>
          <a:p>
            <a:pPr>
              <a:spcAft>
                <a:spcPts val="400"/>
              </a:spcAft>
              <a:defRPr sz="1220">
                <a:solidFill>
                  <a:srgbClr val="1C222A"/>
                </a:solidFill>
              </a:defRPr>
            </a:pPr>
            <a:r>
              <a:t>Azure OCR pre-extracted; Kaggle T4 float16.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806440" y="960120"/>
            <a:ext cx="5623560" cy="1051560"/>
          </a:xfrm>
          <a:prstGeom prst="roundRect">
            <a:avLst/>
          </a:prstGeom>
          <a:solidFill>
            <a:srgbClr val="F4F7FA"/>
          </a:solidFill>
          <a:ln>
            <a:solidFill>
              <a:srgbClr val="D7E0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971031" y="1069848"/>
            <a:ext cx="5294376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2D65A4"/>
                </a:solidFill>
              </a:defRPr>
            </a:pPr>
            <a:r>
              <a:t>ANLS Formula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971031" y="1399032"/>
            <a:ext cx="5294376" cy="52120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50" b="0">
                <a:solidFill>
                  <a:srgbClr val="1C222A"/>
                </a:solidFill>
              </a:defRPr>
            </a:pPr>
            <a:r>
              <a:t>similarity = 1 - edit_distance / max(len(pred), len(gt))</a:t>
            </a:r>
            <a:br/>
            <a:r>
              <a:t>If similarity &lt; 0.5, ANLS = 0; otherwise ANLS = (similarity - 0.5) / 0.5.</a:t>
            </a:r>
          </a:p>
        </p:txBody>
      </p:sp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5806440" y="2468880"/>
          <a:ext cx="4846320" cy="1874519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965960"/>
                <a:gridCol w="1965960"/>
                <a:gridCol w="914400"/>
              </a:tblGrid>
              <a:tr h="374903">
                <a:tc>
                  <a:txBody>
                    <a:bodyPr/>
                    <a:lstStyle/>
                    <a:p>
                      <a:pPr algn="l">
                        <a:defRPr sz="880" b="1">
                          <a:solidFill>
                            <a:srgbClr val="FFFFFF"/>
                          </a:solidFill>
                        </a:defRPr>
                      </a:pPr>
                      <a:r>
                        <a:t>Prediction</a:t>
                      </a:r>
                    </a:p>
                  </a:txBody>
                  <a:tcPr marL="36576" marR="36576" marT="27432" marB="27432">
                    <a:solidFill>
                      <a:srgbClr val="1C304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80" b="1">
                          <a:solidFill>
                            <a:srgbClr val="FFFFFF"/>
                          </a:solidFill>
                        </a:defRPr>
                      </a:pPr>
                      <a:r>
                        <a:t>Ground Truth</a:t>
                      </a:r>
                    </a:p>
                  </a:txBody>
                  <a:tcPr marL="36576" marR="36576" marT="27432" marB="27432">
                    <a:solidFill>
                      <a:srgbClr val="1C304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80" b="1">
                          <a:solidFill>
                            <a:srgbClr val="FFFFFF"/>
                          </a:solidFill>
                        </a:defRPr>
                      </a:pPr>
                      <a:r>
                        <a:t>ANLS</a:t>
                      </a:r>
                    </a:p>
                  </a:txBody>
                  <a:tcPr marL="36576" marR="36576" marT="27432" marB="27432">
                    <a:solidFill>
                      <a:srgbClr val="1C304A"/>
                    </a:solidFill>
                  </a:tcPr>
                </a:tc>
              </a:tr>
              <a:tr h="374903">
                <a:tc>
                  <a:txBody>
                    <a:bodyPr/>
                    <a:lstStyle/>
                    <a:p>
                      <a:pPr algn="l">
                        <a:defRPr sz="880">
                          <a:solidFill>
                            <a:srgbClr val="1C222A"/>
                          </a:solidFill>
                        </a:defRPr>
                      </a:pPr>
                      <a:r>
                        <a:t>10 rat sera</a:t>
                      </a:r>
                    </a:p>
                  </a:txBody>
                  <a:tcPr marL="36576" marR="36576" marT="27432" marB="27432">
                    <a:solidFill>
                      <a:srgbClr val="FAFCF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80">
                          <a:solidFill>
                            <a:srgbClr val="1C222A"/>
                          </a:solidFill>
                        </a:defRPr>
                      </a:pPr>
                      <a:r>
                        <a:t>10 rat sera</a:t>
                      </a:r>
                    </a:p>
                  </a:txBody>
                  <a:tcPr marL="36576" marR="36576" marT="27432" marB="27432">
                    <a:solidFill>
                      <a:srgbClr val="FAFCF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80">
                          <a:solidFill>
                            <a:srgbClr val="1C222A"/>
                          </a:solidFill>
                        </a:defRPr>
                      </a:pPr>
                      <a:r>
                        <a:t>1.0</a:t>
                      </a:r>
                    </a:p>
                  </a:txBody>
                  <a:tcPr marL="36576" marR="36576" marT="27432" marB="27432">
                    <a:solidFill>
                      <a:srgbClr val="FAFCFE"/>
                    </a:solidFill>
                  </a:tcPr>
                </a:tc>
              </a:tr>
              <a:tr h="374903">
                <a:tc>
                  <a:txBody>
                    <a:bodyPr/>
                    <a:lstStyle/>
                    <a:p>
                      <a:pPr algn="l">
                        <a:defRPr sz="880">
                          <a:solidFill>
                            <a:srgbClr val="1C222A"/>
                          </a:solidFill>
                        </a:defRPr>
                      </a:pPr>
                      <a:r>
                        <a:t>8/25/86</a:t>
                      </a:r>
                    </a:p>
                  </a:txBody>
                  <a:tcPr marL="36576" marR="36576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80">
                          <a:solidFill>
                            <a:srgbClr val="1C222A"/>
                          </a:solidFill>
                        </a:defRPr>
                      </a:pPr>
                      <a:r>
                        <a:t>8/25/88</a:t>
                      </a:r>
                    </a:p>
                  </a:txBody>
                  <a:tcPr marL="36576" marR="36576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80">
                          <a:solidFill>
                            <a:srgbClr val="1C222A"/>
                          </a:solidFill>
                        </a:defRPr>
                      </a:pPr>
                      <a:r>
                        <a:t>0.72</a:t>
                      </a:r>
                    </a:p>
                  </a:txBody>
                  <a:tcPr marL="36576" marR="36576" marT="27432" marB="27432">
                    <a:solidFill>
                      <a:srgbClr val="FFFFFF"/>
                    </a:solidFill>
                  </a:tcPr>
                </a:tc>
              </a:tr>
              <a:tr h="374903">
                <a:tc>
                  <a:txBody>
                    <a:bodyPr/>
                    <a:lstStyle/>
                    <a:p>
                      <a:pPr algn="l">
                        <a:defRPr sz="880">
                          <a:solidFill>
                            <a:srgbClr val="1C222A"/>
                          </a:solidFill>
                        </a:defRPr>
                      </a:pPr>
                      <a:r>
                        <a:t>8/25/15</a:t>
                      </a:r>
                    </a:p>
                  </a:txBody>
                  <a:tcPr marL="36576" marR="36576" marT="27432" marB="27432">
                    <a:solidFill>
                      <a:srgbClr val="FAFCF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80">
                          <a:solidFill>
                            <a:srgbClr val="1C222A"/>
                          </a:solidFill>
                        </a:defRPr>
                      </a:pPr>
                      <a:r>
                        <a:t>8/25/88</a:t>
                      </a:r>
                    </a:p>
                  </a:txBody>
                  <a:tcPr marL="36576" marR="36576" marT="27432" marB="27432">
                    <a:solidFill>
                      <a:srgbClr val="FAFCF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80">
                          <a:solidFill>
                            <a:srgbClr val="1C222A"/>
                          </a:solidFill>
                        </a:defRPr>
                      </a:pPr>
                      <a:r>
                        <a:t>0.43</a:t>
                      </a:r>
                    </a:p>
                  </a:txBody>
                  <a:tcPr marL="36576" marR="36576" marT="27432" marB="27432">
                    <a:solidFill>
                      <a:srgbClr val="FAFCFE"/>
                    </a:solidFill>
                  </a:tcPr>
                </a:tc>
              </a:tr>
              <a:tr h="374907">
                <a:tc>
                  <a:txBody>
                    <a:bodyPr/>
                    <a:lstStyle/>
                    <a:p>
                      <a:pPr algn="l">
                        <a:defRPr sz="880">
                          <a:solidFill>
                            <a:srgbClr val="1C222A"/>
                          </a:solidFill>
                        </a:defRPr>
                      </a:pPr>
                      <a:r>
                        <a:t>xyz</a:t>
                      </a:r>
                    </a:p>
                  </a:txBody>
                  <a:tcPr marL="36576" marR="36576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80">
                          <a:solidFill>
                            <a:srgbClr val="1C222A"/>
                          </a:solidFill>
                        </a:defRPr>
                      </a:pPr>
                      <a:r>
                        <a:t>abc</a:t>
                      </a:r>
                    </a:p>
                  </a:txBody>
                  <a:tcPr marL="36576" marR="36576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80">
                          <a:solidFill>
                            <a:srgbClr val="1C222A"/>
                          </a:solidFill>
                        </a:defRPr>
                      </a:pPr>
                      <a:r>
                        <a:t>0.0</a:t>
                      </a:r>
                    </a:p>
                  </a:txBody>
                  <a:tcPr marL="36576" marR="36576" marT="27432" marB="27432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0" name="Rounded Rectangle 9"/>
          <p:cNvSpPr/>
          <p:nvPr/>
        </p:nvSpPr>
        <p:spPr>
          <a:xfrm>
            <a:off x="685800" y="4983480"/>
            <a:ext cx="10744200" cy="822960"/>
          </a:xfrm>
          <a:prstGeom prst="roundRect">
            <a:avLst/>
          </a:prstGeom>
          <a:solidFill>
            <a:srgbClr val="F4F7FA"/>
          </a:solidFill>
          <a:ln>
            <a:solidFill>
              <a:srgbClr val="D7E0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50392" y="5093208"/>
            <a:ext cx="10415016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41965F"/>
                </a:solidFill>
              </a:defRPr>
            </a:pPr>
            <a:r>
              <a:t>Why ANLS?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50392" y="5422392"/>
            <a:ext cx="10415016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50" b="0">
                <a:solidFill>
                  <a:srgbClr val="1C222A"/>
                </a:solidFill>
              </a:defRPr>
            </a:pPr>
            <a:r>
              <a:t>Exact match is too brittle for documents. ANLS gives partial credit for near-matches and handles multiple acceptable ground-truth answers.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652760" y="6510528"/>
            <a:ext cx="100584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850" b="0">
                <a:solidFill>
                  <a:srgbClr val="5E6975"/>
                </a:solidFill>
              </a:defRPr>
            </a:pPr>
            <a:r>
              <a:t>8/11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28600"/>
            <a:ext cx="1120140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500" b="1">
                <a:solidFill>
                  <a:srgbClr val="1C304A"/>
                </a:solidFill>
              </a:defRPr>
            </a:pPr>
            <a:r>
              <a:t>Results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30352" y="713232"/>
            <a:ext cx="109728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50">
                <a:solidFill>
                  <a:srgbClr val="5E6975"/>
                </a:solidFill>
              </a:defRPr>
            </a:pPr>
            <a:r>
              <a:t>OCR-adaptive V2 improves accuracy, especially on structured documents.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594360" y="914400"/>
          <a:ext cx="5212080" cy="12344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45920"/>
                <a:gridCol w="1234440"/>
                <a:gridCol w="1417320"/>
                <a:gridCol w="914400"/>
              </a:tblGrid>
              <a:tr h="308610">
                <a:tc>
                  <a:txBody>
                    <a:bodyPr/>
                    <a:lstStyle/>
                    <a:p>
                      <a:pPr algn="l">
                        <a:defRPr sz="930" b="1">
                          <a:solidFill>
                            <a:srgbClr val="FFFFFF"/>
                          </a:solidFill>
                        </a:defRPr>
                      </a:pPr>
                      <a:r>
                        <a:t>Metric</a:t>
                      </a:r>
                    </a:p>
                  </a:txBody>
                  <a:tcPr marL="36576" marR="36576" marT="27432" marB="27432">
                    <a:solidFill>
                      <a:srgbClr val="1C304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30" b="1">
                          <a:solidFill>
                            <a:srgbClr val="FFFFFF"/>
                          </a:solidFill>
                        </a:defRPr>
                      </a:pPr>
                      <a:r>
                        <a:t>Vision-only</a:t>
                      </a:r>
                    </a:p>
                  </a:txBody>
                  <a:tcPr marL="36576" marR="36576" marT="27432" marB="27432">
                    <a:solidFill>
                      <a:srgbClr val="1C304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30" b="1">
                          <a:solidFill>
                            <a:srgbClr val="FFFFFF"/>
                          </a:solidFill>
                        </a:defRPr>
                      </a:pPr>
                      <a:r>
                        <a:t>OCR-adaptive</a:t>
                      </a:r>
                    </a:p>
                  </a:txBody>
                  <a:tcPr marL="36576" marR="36576" marT="27432" marB="27432">
                    <a:solidFill>
                      <a:srgbClr val="1C304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30" b="1">
                          <a:solidFill>
                            <a:srgbClr val="FFFFFF"/>
                          </a:solidFill>
                        </a:defRPr>
                      </a:pPr>
                      <a:r>
                        <a:t>Δ</a:t>
                      </a:r>
                    </a:p>
                  </a:txBody>
                  <a:tcPr marL="36576" marR="36576" marT="27432" marB="27432">
                    <a:solidFill>
                      <a:srgbClr val="1C304A"/>
                    </a:solidFill>
                  </a:tcPr>
                </a:tc>
              </a:tr>
              <a:tr h="308610">
                <a:tc>
                  <a:txBody>
                    <a:bodyPr/>
                    <a:lstStyle/>
                    <a:p>
                      <a:pPr algn="l">
                        <a:defRPr sz="930">
                          <a:solidFill>
                            <a:srgbClr val="1C222A"/>
                          </a:solidFill>
                        </a:defRPr>
                      </a:pPr>
                      <a:r>
                        <a:t>Mean ANLS</a:t>
                      </a:r>
                    </a:p>
                  </a:txBody>
                  <a:tcPr marL="36576" marR="36576" marT="27432" marB="27432">
                    <a:solidFill>
                      <a:srgbClr val="FAFCF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30">
                          <a:solidFill>
                            <a:srgbClr val="1C222A"/>
                          </a:solidFill>
                        </a:defRPr>
                      </a:pPr>
                      <a:r>
                        <a:t>0.506</a:t>
                      </a:r>
                    </a:p>
                  </a:txBody>
                  <a:tcPr marL="36576" marR="36576" marT="27432" marB="27432">
                    <a:solidFill>
                      <a:srgbClr val="FAFCF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30">
                          <a:solidFill>
                            <a:srgbClr val="1C222A"/>
                          </a:solidFill>
                        </a:defRPr>
                      </a:pPr>
                      <a:r>
                        <a:t>0.658</a:t>
                      </a:r>
                    </a:p>
                  </a:txBody>
                  <a:tcPr marL="36576" marR="36576" marT="27432" marB="27432">
                    <a:solidFill>
                      <a:srgbClr val="FAFCF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30">
                          <a:solidFill>
                            <a:srgbClr val="1C222A"/>
                          </a:solidFill>
                        </a:defRPr>
                      </a:pPr>
                      <a:r>
                        <a:t>+0.152</a:t>
                      </a:r>
                    </a:p>
                  </a:txBody>
                  <a:tcPr marL="36576" marR="36576" marT="27432" marB="27432">
                    <a:solidFill>
                      <a:srgbClr val="FAFCFE"/>
                    </a:solidFill>
                  </a:tcPr>
                </a:tc>
              </a:tr>
              <a:tr h="308610">
                <a:tc>
                  <a:txBody>
                    <a:bodyPr/>
                    <a:lstStyle/>
                    <a:p>
                      <a:pPr algn="l">
                        <a:defRPr sz="930">
                          <a:solidFill>
                            <a:srgbClr val="1C222A"/>
                          </a:solidFill>
                        </a:defRPr>
                      </a:pPr>
                      <a:r>
                        <a:t>Exact match</a:t>
                      </a:r>
                    </a:p>
                  </a:txBody>
                  <a:tcPr marL="36576" marR="36576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30">
                          <a:solidFill>
                            <a:srgbClr val="1C222A"/>
                          </a:solidFill>
                        </a:defRPr>
                      </a:pPr>
                      <a:r>
                        <a:t>0.420</a:t>
                      </a:r>
                    </a:p>
                  </a:txBody>
                  <a:tcPr marL="36576" marR="36576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30">
                          <a:solidFill>
                            <a:srgbClr val="1C222A"/>
                          </a:solidFill>
                        </a:defRPr>
                      </a:pPr>
                      <a:r>
                        <a:t>0.595</a:t>
                      </a:r>
                    </a:p>
                  </a:txBody>
                  <a:tcPr marL="36576" marR="36576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30">
                          <a:solidFill>
                            <a:srgbClr val="1C222A"/>
                          </a:solidFill>
                        </a:defRPr>
                      </a:pPr>
                      <a:r>
                        <a:t>+0.175</a:t>
                      </a:r>
                    </a:p>
                  </a:txBody>
                  <a:tcPr marL="36576" marR="36576" marT="27432" marB="27432">
                    <a:solidFill>
                      <a:srgbClr val="FFFFFF"/>
                    </a:solidFill>
                  </a:tcPr>
                </a:tc>
              </a:tr>
              <a:tr h="308610">
                <a:tc>
                  <a:txBody>
                    <a:bodyPr/>
                    <a:lstStyle/>
                    <a:p>
                      <a:pPr algn="l">
                        <a:defRPr sz="930">
                          <a:solidFill>
                            <a:srgbClr val="1C222A"/>
                          </a:solidFill>
                        </a:defRPr>
                      </a:pPr>
                      <a:r>
                        <a:t>Samples</a:t>
                      </a:r>
                    </a:p>
                  </a:txBody>
                  <a:tcPr marL="36576" marR="36576" marT="27432" marB="27432">
                    <a:solidFill>
                      <a:srgbClr val="FAFCF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30">
                          <a:solidFill>
                            <a:srgbClr val="1C222A"/>
                          </a:solidFill>
                        </a:defRPr>
                      </a:pPr>
                      <a:r>
                        <a:t>200</a:t>
                      </a:r>
                    </a:p>
                  </a:txBody>
                  <a:tcPr marL="36576" marR="36576" marT="27432" marB="27432">
                    <a:solidFill>
                      <a:srgbClr val="FAFCF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30">
                          <a:solidFill>
                            <a:srgbClr val="1C222A"/>
                          </a:solidFill>
                        </a:defRPr>
                      </a:pPr>
                      <a:r>
                        <a:t>200</a:t>
                      </a:r>
                    </a:p>
                  </a:txBody>
                  <a:tcPr marL="36576" marR="36576" marT="27432" marB="27432">
                    <a:solidFill>
                      <a:srgbClr val="FAFCF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30">
                          <a:solidFill>
                            <a:srgbClr val="1C222A"/>
                          </a:solidFill>
                        </a:defRPr>
                      </a:pPr>
                      <a:r>
                        <a:t>—</a:t>
                      </a:r>
                    </a:p>
                  </a:txBody>
                  <a:tcPr marL="36576" marR="36576" marT="27432" marB="27432">
                    <a:solidFill>
                      <a:srgbClr val="FAFCFE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594360" y="2514600"/>
          <a:ext cx="5212080" cy="10515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45920"/>
                <a:gridCol w="1234440"/>
                <a:gridCol w="1417320"/>
                <a:gridCol w="914400"/>
              </a:tblGrid>
              <a:tr h="350520">
                <a:tc>
                  <a:txBody>
                    <a:bodyPr/>
                    <a:lstStyle/>
                    <a:p>
                      <a:pPr algn="l">
                        <a:defRPr sz="930" b="1">
                          <a:solidFill>
                            <a:srgbClr val="FFFFFF"/>
                          </a:solidFill>
                        </a:defRPr>
                      </a:pPr>
                      <a:r>
                        <a:t>Cohort</a:t>
                      </a:r>
                    </a:p>
                  </a:txBody>
                  <a:tcPr marL="36576" marR="36576" marT="27432" marB="27432">
                    <a:solidFill>
                      <a:srgbClr val="1C304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30" b="1">
                          <a:solidFill>
                            <a:srgbClr val="FFFFFF"/>
                          </a:solidFill>
                        </a:defRPr>
                      </a:pPr>
                      <a:r>
                        <a:t>Baseline</a:t>
                      </a:r>
                    </a:p>
                  </a:txBody>
                  <a:tcPr marL="36576" marR="36576" marT="27432" marB="27432">
                    <a:solidFill>
                      <a:srgbClr val="1C304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30" b="1">
                          <a:solidFill>
                            <a:srgbClr val="FFFFFF"/>
                          </a:solidFill>
                        </a:defRPr>
                      </a:pPr>
                      <a:r>
                        <a:t>Adaptive</a:t>
                      </a:r>
                    </a:p>
                  </a:txBody>
                  <a:tcPr marL="36576" marR="36576" marT="27432" marB="27432">
                    <a:solidFill>
                      <a:srgbClr val="1C304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30" b="1">
                          <a:solidFill>
                            <a:srgbClr val="FFFFFF"/>
                          </a:solidFill>
                        </a:defRPr>
                      </a:pPr>
                      <a:r>
                        <a:t>Δ</a:t>
                      </a:r>
                    </a:p>
                  </a:txBody>
                  <a:tcPr marL="36576" marR="36576" marT="27432" marB="27432">
                    <a:solidFill>
                      <a:srgbClr val="1C304A"/>
                    </a:solidFill>
                  </a:tcPr>
                </a:tc>
              </a:tr>
              <a:tr h="350520">
                <a:tc>
                  <a:txBody>
                    <a:bodyPr/>
                    <a:lstStyle/>
                    <a:p>
                      <a:pPr algn="l">
                        <a:defRPr sz="930">
                          <a:solidFill>
                            <a:srgbClr val="1C222A"/>
                          </a:solidFill>
                        </a:defRPr>
                      </a:pPr>
                      <a:r>
                        <a:t>Layout-heavy</a:t>
                      </a:r>
                    </a:p>
                  </a:txBody>
                  <a:tcPr marL="36576" marR="36576" marT="27432" marB="27432">
                    <a:solidFill>
                      <a:srgbClr val="FAFCF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30">
                          <a:solidFill>
                            <a:srgbClr val="1C222A"/>
                          </a:solidFill>
                        </a:defRPr>
                      </a:pPr>
                      <a:r>
                        <a:t>0.568</a:t>
                      </a:r>
                    </a:p>
                  </a:txBody>
                  <a:tcPr marL="36576" marR="36576" marT="27432" marB="27432">
                    <a:solidFill>
                      <a:srgbClr val="FAFCF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30">
                          <a:solidFill>
                            <a:srgbClr val="1C222A"/>
                          </a:solidFill>
                        </a:defRPr>
                      </a:pPr>
                      <a:r>
                        <a:t>0.770</a:t>
                      </a:r>
                    </a:p>
                  </a:txBody>
                  <a:tcPr marL="36576" marR="36576" marT="27432" marB="27432">
                    <a:solidFill>
                      <a:srgbClr val="FAFCF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30">
                          <a:solidFill>
                            <a:srgbClr val="1C222A"/>
                          </a:solidFill>
                        </a:defRPr>
                      </a:pPr>
                      <a:r>
                        <a:t>+0.202</a:t>
                      </a:r>
                    </a:p>
                  </a:txBody>
                  <a:tcPr marL="36576" marR="36576" marT="27432" marB="27432">
                    <a:solidFill>
                      <a:srgbClr val="FAFCFE"/>
                    </a:solidFill>
                  </a:tcPr>
                </a:tc>
              </a:tr>
              <a:tr h="350520">
                <a:tc>
                  <a:txBody>
                    <a:bodyPr/>
                    <a:lstStyle/>
                    <a:p>
                      <a:pPr algn="l">
                        <a:defRPr sz="930">
                          <a:solidFill>
                            <a:srgbClr val="1C222A"/>
                          </a:solidFill>
                        </a:defRPr>
                      </a:pPr>
                      <a:r>
                        <a:t>Visual-heavy</a:t>
                      </a:r>
                    </a:p>
                  </a:txBody>
                  <a:tcPr marL="36576" marR="36576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30">
                          <a:solidFill>
                            <a:srgbClr val="1C222A"/>
                          </a:solidFill>
                        </a:defRPr>
                      </a:pPr>
                      <a:r>
                        <a:t>0.444</a:t>
                      </a:r>
                    </a:p>
                  </a:txBody>
                  <a:tcPr marL="36576" marR="36576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30">
                          <a:solidFill>
                            <a:srgbClr val="1C222A"/>
                          </a:solidFill>
                        </a:defRPr>
                      </a:pPr>
                      <a:r>
                        <a:t>0.546</a:t>
                      </a:r>
                    </a:p>
                  </a:txBody>
                  <a:tcPr marL="36576" marR="36576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30">
                          <a:solidFill>
                            <a:srgbClr val="1C222A"/>
                          </a:solidFill>
                        </a:defRPr>
                      </a:pPr>
                      <a:r>
                        <a:t>+0.102</a:t>
                      </a:r>
                    </a:p>
                  </a:txBody>
                  <a:tcPr marL="36576" marR="36576" marT="27432" marB="27432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6400800" y="914400"/>
          <a:ext cx="4572000" cy="25146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91640"/>
                <a:gridCol w="1005840"/>
                <a:gridCol w="914400"/>
                <a:gridCol w="960120"/>
              </a:tblGrid>
              <a:tr h="359228">
                <a:tc>
                  <a:txBody>
                    <a:bodyPr/>
                    <a:lstStyle/>
                    <a:p>
                      <a:pPr algn="l">
                        <a:defRPr sz="850" b="1">
                          <a:solidFill>
                            <a:srgbClr val="FFFFFF"/>
                          </a:solidFill>
                        </a:defRPr>
                      </a:pPr>
                      <a:r>
                        <a:t>Type</a:t>
                      </a:r>
                    </a:p>
                  </a:txBody>
                  <a:tcPr marL="36576" marR="36576" marT="27432" marB="27432">
                    <a:solidFill>
                      <a:srgbClr val="1C304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 b="1">
                          <a:solidFill>
                            <a:srgbClr val="FFFFFF"/>
                          </a:solidFill>
                        </a:defRPr>
                      </a:pPr>
                      <a:r>
                        <a:t>Baseline</a:t>
                      </a:r>
                    </a:p>
                  </a:txBody>
                  <a:tcPr marL="36576" marR="36576" marT="27432" marB="27432">
                    <a:solidFill>
                      <a:srgbClr val="1C304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 b="1">
                          <a:solidFill>
                            <a:srgbClr val="FFFFFF"/>
                          </a:solidFill>
                        </a:defRPr>
                      </a:pPr>
                      <a:r>
                        <a:t>V2</a:t>
                      </a:r>
                    </a:p>
                  </a:txBody>
                  <a:tcPr marL="36576" marR="36576" marT="27432" marB="27432">
                    <a:solidFill>
                      <a:srgbClr val="1C304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 b="1">
                          <a:solidFill>
                            <a:srgbClr val="FFFFFF"/>
                          </a:solidFill>
                        </a:defRPr>
                      </a:pPr>
                      <a:r>
                        <a:t>Δ</a:t>
                      </a:r>
                    </a:p>
                  </a:txBody>
                  <a:tcPr marL="36576" marR="36576" marT="27432" marB="27432">
                    <a:solidFill>
                      <a:srgbClr val="1C304A"/>
                    </a:solidFill>
                  </a:tcPr>
                </a:tc>
              </a:tr>
              <a:tr h="359228">
                <a:tc>
                  <a:txBody>
                    <a:bodyPr/>
                    <a:lstStyle/>
                    <a:p>
                      <a:pPr algn="l">
                        <a:defRPr sz="850">
                          <a:solidFill>
                            <a:srgbClr val="1C222A"/>
                          </a:solidFill>
                        </a:defRPr>
                      </a:pPr>
                      <a:r>
                        <a:t>Table/list</a:t>
                      </a:r>
                    </a:p>
                  </a:txBody>
                  <a:tcPr marL="36576" marR="36576" marT="27432" marB="27432">
                    <a:solidFill>
                      <a:srgbClr val="FAFCF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>
                          <a:solidFill>
                            <a:srgbClr val="1C222A"/>
                          </a:solidFill>
                        </a:defRPr>
                      </a:pPr>
                      <a:r>
                        <a:t>0.376</a:t>
                      </a:r>
                    </a:p>
                  </a:txBody>
                  <a:tcPr marL="36576" marR="36576" marT="27432" marB="27432">
                    <a:solidFill>
                      <a:srgbClr val="FAFCF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>
                          <a:solidFill>
                            <a:srgbClr val="1C222A"/>
                          </a:solidFill>
                        </a:defRPr>
                      </a:pPr>
                      <a:r>
                        <a:t>0.771</a:t>
                      </a:r>
                    </a:p>
                  </a:txBody>
                  <a:tcPr marL="36576" marR="36576" marT="27432" marB="27432">
                    <a:solidFill>
                      <a:srgbClr val="FAFCF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>
                          <a:solidFill>
                            <a:srgbClr val="1C222A"/>
                          </a:solidFill>
                        </a:defRPr>
                      </a:pPr>
                      <a:r>
                        <a:t>+0.395</a:t>
                      </a:r>
                    </a:p>
                  </a:txBody>
                  <a:tcPr marL="36576" marR="36576" marT="27432" marB="27432">
                    <a:solidFill>
                      <a:srgbClr val="FAFCFE"/>
                    </a:solidFill>
                  </a:tcPr>
                </a:tc>
              </a:tr>
              <a:tr h="359228">
                <a:tc>
                  <a:txBody>
                    <a:bodyPr/>
                    <a:lstStyle/>
                    <a:p>
                      <a:pPr algn="l">
                        <a:defRPr sz="850">
                          <a:solidFill>
                            <a:srgbClr val="1C222A"/>
                          </a:solidFill>
                        </a:defRPr>
                      </a:pPr>
                      <a:r>
                        <a:t>Layout</a:t>
                      </a:r>
                    </a:p>
                  </a:txBody>
                  <a:tcPr marL="36576" marR="36576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>
                          <a:solidFill>
                            <a:srgbClr val="1C222A"/>
                          </a:solidFill>
                        </a:defRPr>
                      </a:pPr>
                      <a:r>
                        <a:t>0.571</a:t>
                      </a:r>
                    </a:p>
                  </a:txBody>
                  <a:tcPr marL="36576" marR="36576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>
                          <a:solidFill>
                            <a:srgbClr val="1C222A"/>
                          </a:solidFill>
                        </a:defRPr>
                      </a:pPr>
                      <a:r>
                        <a:t>0.800</a:t>
                      </a:r>
                    </a:p>
                  </a:txBody>
                  <a:tcPr marL="36576" marR="36576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>
                          <a:solidFill>
                            <a:srgbClr val="1C222A"/>
                          </a:solidFill>
                        </a:defRPr>
                      </a:pPr>
                      <a:r>
                        <a:t>+0.229</a:t>
                      </a:r>
                    </a:p>
                  </a:txBody>
                  <a:tcPr marL="36576" marR="36576" marT="27432" marB="27432">
                    <a:solidFill>
                      <a:srgbClr val="FFFFFF"/>
                    </a:solidFill>
                  </a:tcPr>
                </a:tc>
              </a:tr>
              <a:tr h="359228">
                <a:tc>
                  <a:txBody>
                    <a:bodyPr/>
                    <a:lstStyle/>
                    <a:p>
                      <a:pPr algn="l">
                        <a:defRPr sz="850">
                          <a:solidFill>
                            <a:srgbClr val="1C222A"/>
                          </a:solidFill>
                        </a:defRPr>
                      </a:pPr>
                      <a:r>
                        <a:t>Form</a:t>
                      </a:r>
                    </a:p>
                  </a:txBody>
                  <a:tcPr marL="36576" marR="36576" marT="27432" marB="27432">
                    <a:solidFill>
                      <a:srgbClr val="FAFCF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>
                          <a:solidFill>
                            <a:srgbClr val="1C222A"/>
                          </a:solidFill>
                        </a:defRPr>
                      </a:pPr>
                      <a:r>
                        <a:t>0.603</a:t>
                      </a:r>
                    </a:p>
                  </a:txBody>
                  <a:tcPr marL="36576" marR="36576" marT="27432" marB="27432">
                    <a:solidFill>
                      <a:srgbClr val="FAFCF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>
                          <a:solidFill>
                            <a:srgbClr val="1C222A"/>
                          </a:solidFill>
                        </a:defRPr>
                      </a:pPr>
                      <a:r>
                        <a:t>0.790</a:t>
                      </a:r>
                    </a:p>
                  </a:txBody>
                  <a:tcPr marL="36576" marR="36576" marT="27432" marB="27432">
                    <a:solidFill>
                      <a:srgbClr val="FAFCF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>
                          <a:solidFill>
                            <a:srgbClr val="1C222A"/>
                          </a:solidFill>
                        </a:defRPr>
                      </a:pPr>
                      <a:r>
                        <a:t>+0.187</a:t>
                      </a:r>
                    </a:p>
                  </a:txBody>
                  <a:tcPr marL="36576" marR="36576" marT="27432" marB="27432">
                    <a:solidFill>
                      <a:srgbClr val="FAFCFE"/>
                    </a:solidFill>
                  </a:tcPr>
                </a:tc>
              </a:tr>
              <a:tr h="359228">
                <a:tc>
                  <a:txBody>
                    <a:bodyPr/>
                    <a:lstStyle/>
                    <a:p>
                      <a:pPr algn="l">
                        <a:defRPr sz="850">
                          <a:solidFill>
                            <a:srgbClr val="1C222A"/>
                          </a:solidFill>
                        </a:defRPr>
                      </a:pPr>
                      <a:r>
                        <a:t>Handwritten</a:t>
                      </a:r>
                    </a:p>
                  </a:txBody>
                  <a:tcPr marL="36576" marR="36576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>
                          <a:solidFill>
                            <a:srgbClr val="1C222A"/>
                          </a:solidFill>
                        </a:defRPr>
                      </a:pPr>
                      <a:r>
                        <a:t>0.521</a:t>
                      </a:r>
                    </a:p>
                  </a:txBody>
                  <a:tcPr marL="36576" marR="36576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>
                          <a:solidFill>
                            <a:srgbClr val="1C222A"/>
                          </a:solidFill>
                        </a:defRPr>
                      </a:pPr>
                      <a:r>
                        <a:t>0.683</a:t>
                      </a:r>
                    </a:p>
                  </a:txBody>
                  <a:tcPr marL="36576" marR="36576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>
                          <a:solidFill>
                            <a:srgbClr val="1C222A"/>
                          </a:solidFill>
                        </a:defRPr>
                      </a:pPr>
                      <a:r>
                        <a:t>+0.162</a:t>
                      </a:r>
                    </a:p>
                  </a:txBody>
                  <a:tcPr marL="36576" marR="36576" marT="27432" marB="27432">
                    <a:solidFill>
                      <a:srgbClr val="FFFFFF"/>
                    </a:solidFill>
                  </a:tcPr>
                </a:tc>
              </a:tr>
              <a:tr h="359228">
                <a:tc>
                  <a:txBody>
                    <a:bodyPr/>
                    <a:lstStyle/>
                    <a:p>
                      <a:pPr algn="l">
                        <a:defRPr sz="850">
                          <a:solidFill>
                            <a:srgbClr val="1C222A"/>
                          </a:solidFill>
                        </a:defRPr>
                      </a:pPr>
                      <a:r>
                        <a:t>Figure/diagram</a:t>
                      </a:r>
                    </a:p>
                  </a:txBody>
                  <a:tcPr marL="36576" marR="36576" marT="27432" marB="27432">
                    <a:solidFill>
                      <a:srgbClr val="FAFCF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>
                          <a:solidFill>
                            <a:srgbClr val="1C222A"/>
                          </a:solidFill>
                        </a:defRPr>
                      </a:pPr>
                      <a:r>
                        <a:t>0.435</a:t>
                      </a:r>
                    </a:p>
                  </a:txBody>
                  <a:tcPr marL="36576" marR="36576" marT="27432" marB="27432">
                    <a:solidFill>
                      <a:srgbClr val="FAFCF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>
                          <a:solidFill>
                            <a:srgbClr val="1C222A"/>
                          </a:solidFill>
                        </a:defRPr>
                      </a:pPr>
                      <a:r>
                        <a:t>0.584</a:t>
                      </a:r>
                    </a:p>
                  </a:txBody>
                  <a:tcPr marL="36576" marR="36576" marT="27432" marB="27432">
                    <a:solidFill>
                      <a:srgbClr val="FAFCF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>
                          <a:solidFill>
                            <a:srgbClr val="1C222A"/>
                          </a:solidFill>
                        </a:defRPr>
                      </a:pPr>
                      <a:r>
                        <a:t>+0.149</a:t>
                      </a:r>
                    </a:p>
                  </a:txBody>
                  <a:tcPr marL="36576" marR="36576" marT="27432" marB="27432">
                    <a:solidFill>
                      <a:srgbClr val="FAFCFE"/>
                    </a:solidFill>
                  </a:tcPr>
                </a:tc>
              </a:tr>
              <a:tr h="359232">
                <a:tc>
                  <a:txBody>
                    <a:bodyPr/>
                    <a:lstStyle/>
                    <a:p>
                      <a:pPr algn="l">
                        <a:defRPr sz="850">
                          <a:solidFill>
                            <a:srgbClr val="1C222A"/>
                          </a:solidFill>
                        </a:defRPr>
                      </a:pPr>
                      <a:r>
                        <a:t>Free text</a:t>
                      </a:r>
                    </a:p>
                  </a:txBody>
                  <a:tcPr marL="36576" marR="36576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>
                          <a:solidFill>
                            <a:srgbClr val="1C222A"/>
                          </a:solidFill>
                        </a:defRPr>
                      </a:pPr>
                      <a:r>
                        <a:t>0.457</a:t>
                      </a:r>
                    </a:p>
                  </a:txBody>
                  <a:tcPr marL="36576" marR="36576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>
                          <a:solidFill>
                            <a:srgbClr val="1C222A"/>
                          </a:solidFill>
                        </a:defRPr>
                      </a:pPr>
                      <a:r>
                        <a:t>0.554</a:t>
                      </a:r>
                    </a:p>
                  </a:txBody>
                  <a:tcPr marL="36576" marR="36576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>
                          <a:solidFill>
                            <a:srgbClr val="1C222A"/>
                          </a:solidFill>
                        </a:defRPr>
                      </a:pPr>
                      <a:r>
                        <a:t>+0.097</a:t>
                      </a:r>
                    </a:p>
                  </a:txBody>
                  <a:tcPr marL="36576" marR="36576" marT="27432" marB="27432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7" name="Rounded Rectangle 6"/>
          <p:cNvSpPr/>
          <p:nvPr/>
        </p:nvSpPr>
        <p:spPr>
          <a:xfrm>
            <a:off x="777240" y="4160520"/>
            <a:ext cx="3337560" cy="1051560"/>
          </a:xfrm>
          <a:prstGeom prst="roundRect">
            <a:avLst/>
          </a:prstGeom>
          <a:solidFill>
            <a:srgbClr val="F4F7FA"/>
          </a:solidFill>
          <a:ln>
            <a:solidFill>
              <a:srgbClr val="D7E0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41832" y="4270248"/>
            <a:ext cx="3008376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41965F"/>
                </a:solidFill>
              </a:defRPr>
            </a:pPr>
            <a:r>
              <a:t>Adaptive Wins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41832" y="4599431"/>
            <a:ext cx="3008376" cy="52120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50" b="0">
                <a:solidFill>
                  <a:srgbClr val="1C222A"/>
                </a:solidFill>
              </a:defRPr>
            </a:pPr>
            <a:r>
              <a:t>46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434840" y="4160520"/>
            <a:ext cx="3337560" cy="1051560"/>
          </a:xfrm>
          <a:prstGeom prst="roundRect">
            <a:avLst/>
          </a:prstGeom>
          <a:solidFill>
            <a:srgbClr val="F4F7FA"/>
          </a:solidFill>
          <a:ln>
            <a:solidFill>
              <a:srgbClr val="D7E0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599431" y="4270248"/>
            <a:ext cx="3008376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BF4B4B"/>
                </a:solidFill>
              </a:defRPr>
            </a:pPr>
            <a:r>
              <a:t>Baseline Wins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99431" y="4599431"/>
            <a:ext cx="3008376" cy="52120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50" b="0">
                <a:solidFill>
                  <a:srgbClr val="1C222A"/>
                </a:solidFill>
              </a:defRPr>
            </a:pPr>
            <a:r>
              <a:t>6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092440" y="4160520"/>
            <a:ext cx="3337560" cy="1051560"/>
          </a:xfrm>
          <a:prstGeom prst="roundRect">
            <a:avLst/>
          </a:prstGeom>
          <a:solidFill>
            <a:srgbClr val="F4F7FA"/>
          </a:solidFill>
          <a:ln>
            <a:solidFill>
              <a:srgbClr val="D7E0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257031" y="4270248"/>
            <a:ext cx="3008376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5E6975"/>
                </a:solidFill>
              </a:defRPr>
            </a:pPr>
            <a:r>
              <a:t>Ties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257031" y="4599431"/>
            <a:ext cx="3008376" cy="52120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50" b="0">
                <a:solidFill>
                  <a:srgbClr val="1C222A"/>
                </a:solidFill>
              </a:defRPr>
            </a:pPr>
            <a:r>
              <a:t>148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31520" y="5715000"/>
            <a:ext cx="107899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50" b="1">
                <a:solidFill>
                  <a:srgbClr val="1C304A"/>
                </a:solidFill>
              </a:defRPr>
            </a:pPr>
            <a:r>
              <a:t>Interpretation: improvement is real but concentrated where OCR helps — layout-heavy documents and especially tables.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652760" y="6510528"/>
            <a:ext cx="100584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850" b="0">
                <a:solidFill>
                  <a:srgbClr val="5E6975"/>
                </a:solidFill>
              </a:defRPr>
            </a:pPr>
            <a:r>
              <a:t>9/11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28600"/>
            <a:ext cx="1120140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500" b="1">
                <a:solidFill>
                  <a:srgbClr val="1C304A"/>
                </a:solidFill>
              </a:defRPr>
            </a:pPr>
            <a:r>
              <a:t>Case Studies: Success vs Failure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30352" y="713232"/>
            <a:ext cx="109728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50">
                <a:solidFill>
                  <a:srgbClr val="5E6975"/>
                </a:solidFill>
              </a:defRPr>
            </a:pPr>
            <a:r>
              <a:t>Use examples to show both the value and limits of the pipeline.</a:t>
            </a:r>
          </a:p>
        </p:txBody>
      </p:sp>
      <p:pic>
        <p:nvPicPr>
          <p:cNvPr id="4" name="Picture 3" descr="specimen_success_visua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914400"/>
            <a:ext cx="5486400" cy="2743200"/>
          </a:xfrm>
          <a:prstGeom prst="rect">
            <a:avLst/>
          </a:prstGeom>
        </p:spPr>
      </p:pic>
      <p:sp>
        <p:nvSpPr>
          <p:cNvPr id="5" name="Rounded Rectangle 4"/>
          <p:cNvSpPr/>
          <p:nvPr/>
        </p:nvSpPr>
        <p:spPr>
          <a:xfrm>
            <a:off x="6263640" y="960120"/>
            <a:ext cx="5074920" cy="1097280"/>
          </a:xfrm>
          <a:prstGeom prst="roundRect">
            <a:avLst/>
          </a:prstGeom>
          <a:solidFill>
            <a:srgbClr val="F4F7FA"/>
          </a:solidFill>
          <a:ln>
            <a:solidFill>
              <a:srgbClr val="D7E0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28231" y="1069848"/>
            <a:ext cx="4745736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41965F"/>
                </a:solidFill>
              </a:defRPr>
            </a:pPr>
            <a:r>
              <a:t>Success: Specimen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28231" y="1399032"/>
            <a:ext cx="4745736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50" b="0">
                <a:solidFill>
                  <a:srgbClr val="1C222A"/>
                </a:solidFill>
              </a:defRPr>
            </a:pPr>
            <a:r>
              <a:t>Retrieval matched the label “Specimen:” and spatial expansion added the value line below: “10 rat sera.” Prediction: 10 rat sera, ANLS 1.0.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63640" y="2423160"/>
            <a:ext cx="5074920" cy="914400"/>
          </a:xfrm>
          <a:prstGeom prst="roundRect">
            <a:avLst/>
          </a:prstGeom>
          <a:solidFill>
            <a:srgbClr val="F4F7FA"/>
          </a:solidFill>
          <a:ln>
            <a:solidFill>
              <a:srgbClr val="D7E0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28231" y="2532888"/>
            <a:ext cx="4745736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2D65A4"/>
                </a:solidFill>
              </a:defRPr>
            </a:pPr>
            <a:r>
              <a:t>Success via fallback: Eastern Airlines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28231" y="2862072"/>
            <a:ext cx="4745736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50" b="0">
                <a:solidFill>
                  <a:srgbClr val="1C222A"/>
                </a:solidFill>
              </a:defRPr>
            </a:pPr>
            <a:r>
              <a:t>Retrieval confidence was only ~0.303 (&lt;0.45), so the gate rejected OCR. Vision-only answered “Eastern Airlines,” ANLS 1.0.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263640" y="3657600"/>
            <a:ext cx="5074920" cy="1143000"/>
          </a:xfrm>
          <a:prstGeom prst="roundRect">
            <a:avLst/>
          </a:prstGeom>
          <a:solidFill>
            <a:srgbClr val="F4F7FA"/>
          </a:solidFill>
          <a:ln>
            <a:solidFill>
              <a:srgbClr val="D7E0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28231" y="3767328"/>
            <a:ext cx="4745736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BF4B4B"/>
                </a:solidFill>
              </a:defRPr>
            </a:pPr>
            <a:r>
              <a:t>Failure: Date OCR trust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28231" y="4096512"/>
            <a:ext cx="4745736" cy="6126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50" b="0">
                <a:solidFill>
                  <a:srgbClr val="1C222A"/>
                </a:solidFill>
              </a:defRPr>
            </a:pPr>
            <a:r>
              <a:t>Ground truth: 8/25/88. Baseline predicted 8/25/86 (ANLS 0.72). OCR-adaptive predicted 8/25/15 (ANLS 0.43) after copying bad OCR.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31520" y="5559552"/>
            <a:ext cx="106984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50" b="1">
                <a:solidFill>
                  <a:srgbClr val="1C304A"/>
                </a:solidFill>
              </a:defRPr>
            </a:pPr>
            <a:r>
              <a:t>Lesson: spatial expansion fixes label-value gaps, the gate avoids weak snippets, but OCR errors can still propagate when confidence looks high.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652760" y="6510528"/>
            <a:ext cx="100584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850" b="0">
                <a:solidFill>
                  <a:srgbClr val="5E6975"/>
                </a:solidFill>
              </a:defRPr>
            </a:pPr>
            <a:r>
              <a:t>10/11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28600"/>
            <a:ext cx="1120140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500" b="1">
                <a:solidFill>
                  <a:srgbClr val="1C304A"/>
                </a:solidFill>
              </a:defRPr>
            </a:pPr>
            <a:r>
              <a:t>Conclusion &amp; Takeaways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30352" y="713232"/>
            <a:ext cx="109728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50">
                <a:solidFill>
                  <a:srgbClr val="5E6975"/>
                </a:solidFill>
              </a:defRPr>
            </a:pPr>
            <a:r>
              <a:t>Inference-time architecture can unlock small VLM capability.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005840"/>
            <a:ext cx="5257800" cy="1234440"/>
          </a:xfrm>
          <a:prstGeom prst="roundRect">
            <a:avLst/>
          </a:prstGeom>
          <a:solidFill>
            <a:srgbClr val="F4F7FA"/>
          </a:solidFill>
          <a:ln>
            <a:solidFill>
              <a:srgbClr val="D7E0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96112" y="1115568"/>
            <a:ext cx="4928616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2D65A4"/>
                </a:solidFill>
              </a:defRPr>
            </a:pPr>
            <a:r>
              <a:t>What we built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96112" y="1444752"/>
            <a:ext cx="4928616" cy="7040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50" b="0">
                <a:solidFill>
                  <a:srgbClr val="1C222A"/>
                </a:solidFill>
              </a:defRPr>
            </a:pPr>
            <a:r>
              <a:t>A V2 adaptive OCR-infused pipeline for Phi-3.5-Vision DocVQA: five stages plus a quality gate, with safe fallback at every step.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263640" y="1005840"/>
            <a:ext cx="5257800" cy="1234440"/>
          </a:xfrm>
          <a:prstGeom prst="roundRect">
            <a:avLst/>
          </a:prstGeom>
          <a:solidFill>
            <a:srgbClr val="F4F7FA"/>
          </a:solidFill>
          <a:ln>
            <a:solidFill>
              <a:srgbClr val="D7E0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28231" y="1115568"/>
            <a:ext cx="4928616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41965F"/>
                </a:solidFill>
              </a:defRPr>
            </a:pPr>
            <a:r>
              <a:t>What we proved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28231" y="1444752"/>
            <a:ext cx="4928616" cy="7040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50" b="0">
                <a:solidFill>
                  <a:srgbClr val="1C222A"/>
                </a:solidFill>
              </a:defRPr>
            </a:pPr>
            <a:r>
              <a:t>+0.152 mean ANLS (0.506 → 0.658), layout-heavy +0.202, table/list +0.395, and 46 vs 6 head-to-head wins.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960120" y="2971800"/>
            <a:ext cx="10287000" cy="1234440"/>
          </a:xfrm>
          <a:prstGeom prst="roundRect">
            <a:avLst/>
          </a:prstGeom>
          <a:solidFill>
            <a:srgbClr val="F4F7FA"/>
          </a:solidFill>
          <a:ln>
            <a:solidFill>
              <a:srgbClr val="D7E0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124712" y="3081528"/>
            <a:ext cx="9957816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27897F"/>
                </a:solidFill>
              </a:defRPr>
            </a:pPr>
            <a:r>
              <a:t>Key Takeaway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24712" y="3410712"/>
            <a:ext cx="9957816" cy="7040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50" b="0">
                <a:solidFill>
                  <a:srgbClr val="1C222A"/>
                </a:solidFill>
              </a:defRPr>
            </a:pPr>
            <a:r>
              <a:t>Routing, retrieval, spatial expansion, and gating can make a 4B vision-language model much more reliable on dense documents without fine-tuning or scaling to GPT-4V.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05840" y="4983480"/>
            <a:ext cx="100584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300" b="1">
                <a:solidFill>
                  <a:srgbClr val="1C304A"/>
                </a:solidFill>
              </a:defRPr>
            </a:pPr>
            <a:r>
              <a:t>The image stays primary. OCR is a targeted hint, not a replacement.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05840" y="5806440"/>
            <a:ext cx="10058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 b="1">
                <a:solidFill>
                  <a:srgbClr val="5E6975"/>
                </a:solidFill>
              </a:defRPr>
            </a:pPr>
            <a:r>
              <a:t>Thank you / Questions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652760" y="6510528"/>
            <a:ext cx="100584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850" b="0">
                <a:solidFill>
                  <a:srgbClr val="5E6975"/>
                </a:solidFill>
              </a:defRPr>
            </a:pPr>
            <a:r>
              <a:t>11/11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